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Inter" charset="1" panose="02000503000000020004"/>
      <p:regular r:id="rId21"/>
    </p:embeddedFont>
    <p:embeddedFont>
      <p:font typeface="Inter Medium" charset="1" panose="02000503000000020004"/>
      <p:regular r:id="rId22"/>
    </p:embeddedFont>
    <p:embeddedFont>
      <p:font typeface="Inter Light" charset="1" panose="02000503000000020004"/>
      <p:regular r:id="rId23"/>
    </p:embeddedFont>
    <p:embeddedFont>
      <p:font typeface="Open Sauce" charset="1" panose="00000500000000000000"/>
      <p:regular r:id="rId24"/>
    </p:embeddedFont>
    <p:embeddedFont>
      <p:font typeface="Open Sans Italics" charset="1" panose="020B0606030504020204"/>
      <p:regular r:id="rId25"/>
    </p:embeddedFont>
    <p:embeddedFont>
      <p:font typeface="Inter Bold" charset="1" panose="02000503000000020004"/>
      <p:regular r:id="rId26"/>
    </p:embeddedFont>
    <p:embeddedFont>
      <p:font typeface="Inter Semi-Bold" charset="1" panose="02000503000000020004"/>
      <p:regular r:id="rId27"/>
    </p:embeddedFont>
    <p:embeddedFont>
      <p:font typeface="Open Sauce Semi-Bold" charset="1" panose="000007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3.png" Type="http://schemas.openxmlformats.org/officeDocument/2006/relationships/image"/><Relationship Id="rId14" Target="../media/image4.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1.png" Type="http://schemas.openxmlformats.org/officeDocument/2006/relationships/image"/><Relationship Id="rId6" Target="../media/image34.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 Id="rId8" Target="../media/image8.png" Type="http://schemas.openxmlformats.org/officeDocument/2006/relationships/image"/><Relationship Id="rId9"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5201293" y="514350"/>
            <a:ext cx="14666437" cy="9258300"/>
            <a:chOff x="0" y="0"/>
            <a:chExt cx="3542301" cy="2236104"/>
          </a:xfrm>
        </p:grpSpPr>
        <p:sp>
          <p:nvSpPr>
            <p:cNvPr name="Freeform 3" id="3"/>
            <p:cNvSpPr/>
            <p:nvPr/>
          </p:nvSpPr>
          <p:spPr>
            <a:xfrm flipH="false" flipV="false" rot="0">
              <a:off x="0" y="0"/>
              <a:ext cx="3542301" cy="2236104"/>
            </a:xfrm>
            <a:custGeom>
              <a:avLst/>
              <a:gdLst/>
              <a:ahLst/>
              <a:cxnLst/>
              <a:rect r="r" b="b" t="t" l="l"/>
              <a:pathLst>
                <a:path h="2236104" w="3542301">
                  <a:moveTo>
                    <a:pt x="52787" y="0"/>
                  </a:moveTo>
                  <a:lnTo>
                    <a:pt x="3489514" y="0"/>
                  </a:lnTo>
                  <a:cubicBezTo>
                    <a:pt x="3518667" y="0"/>
                    <a:pt x="3542301" y="23633"/>
                    <a:pt x="3542301" y="52787"/>
                  </a:cubicBezTo>
                  <a:lnTo>
                    <a:pt x="3542301" y="2183318"/>
                  </a:lnTo>
                  <a:cubicBezTo>
                    <a:pt x="3542301" y="2212471"/>
                    <a:pt x="3518667" y="2236104"/>
                    <a:pt x="3489514" y="2236104"/>
                  </a:cubicBezTo>
                  <a:lnTo>
                    <a:pt x="52787" y="2236104"/>
                  </a:lnTo>
                  <a:cubicBezTo>
                    <a:pt x="23633" y="2236104"/>
                    <a:pt x="0" y="2212471"/>
                    <a:pt x="0" y="2183318"/>
                  </a:cubicBezTo>
                  <a:lnTo>
                    <a:pt x="0" y="52787"/>
                  </a:lnTo>
                  <a:cubicBezTo>
                    <a:pt x="0" y="23633"/>
                    <a:pt x="23633" y="0"/>
                    <a:pt x="52787" y="0"/>
                  </a:cubicBezTo>
                  <a:close/>
                </a:path>
              </a:pathLst>
            </a:custGeom>
            <a:solidFill>
              <a:srgbClr val="140C3D"/>
            </a:solidFill>
          </p:spPr>
        </p:sp>
        <p:sp>
          <p:nvSpPr>
            <p:cNvPr name="TextBox 4" id="4"/>
            <p:cNvSpPr txBox="true"/>
            <p:nvPr/>
          </p:nvSpPr>
          <p:spPr>
            <a:xfrm>
              <a:off x="0" y="-47625"/>
              <a:ext cx="3542301" cy="2283729"/>
            </a:xfrm>
            <a:prstGeom prst="rect">
              <a:avLst/>
            </a:prstGeom>
          </p:spPr>
          <p:txBody>
            <a:bodyPr anchor="ctr" rtlCol="false" tIns="50800" lIns="50800" bIns="50800" rIns="50800"/>
            <a:lstStyle/>
            <a:p>
              <a:pPr algn="ctr">
                <a:lnSpc>
                  <a:spcPts val="3634"/>
                </a:lnSpc>
              </a:pPr>
            </a:p>
          </p:txBody>
        </p:sp>
      </p:grpSp>
      <p:sp>
        <p:nvSpPr>
          <p:cNvPr name="Freeform 5" id="5"/>
          <p:cNvSpPr/>
          <p:nvPr/>
        </p:nvSpPr>
        <p:spPr>
          <a:xfrm flipH="false" flipV="false" rot="0">
            <a:off x="1028700" y="1239950"/>
            <a:ext cx="544169" cy="602124"/>
          </a:xfrm>
          <a:custGeom>
            <a:avLst/>
            <a:gdLst/>
            <a:ahLst/>
            <a:cxnLst/>
            <a:rect r="r" b="b" t="t" l="l"/>
            <a:pathLst>
              <a:path h="602124" w="544169">
                <a:moveTo>
                  <a:pt x="0" y="0"/>
                </a:moveTo>
                <a:lnTo>
                  <a:pt x="544169" y="0"/>
                </a:lnTo>
                <a:lnTo>
                  <a:pt x="544169" y="602124"/>
                </a:lnTo>
                <a:lnTo>
                  <a:pt x="0" y="602124"/>
                </a:lnTo>
                <a:lnTo>
                  <a:pt x="0" y="0"/>
                </a:lnTo>
                <a:close/>
              </a:path>
            </a:pathLst>
          </a:custGeom>
          <a:blipFill>
            <a:blip r:embed="rId2"/>
            <a:stretch>
              <a:fillRect l="0" t="0" r="0" b="0"/>
            </a:stretch>
          </a:blipFill>
        </p:spPr>
      </p:sp>
      <p:sp>
        <p:nvSpPr>
          <p:cNvPr name="Freeform 6" id="6"/>
          <p:cNvSpPr/>
          <p:nvPr/>
        </p:nvSpPr>
        <p:spPr>
          <a:xfrm flipH="false" flipV="false" rot="0">
            <a:off x="1773476" y="951022"/>
            <a:ext cx="2076709" cy="1179980"/>
          </a:xfrm>
          <a:custGeom>
            <a:avLst/>
            <a:gdLst/>
            <a:ahLst/>
            <a:cxnLst/>
            <a:rect r="r" b="b" t="t" l="l"/>
            <a:pathLst>
              <a:path h="1179980" w="2076709">
                <a:moveTo>
                  <a:pt x="0" y="0"/>
                </a:moveTo>
                <a:lnTo>
                  <a:pt x="2076709" y="0"/>
                </a:lnTo>
                <a:lnTo>
                  <a:pt x="2076709" y="1179980"/>
                </a:lnTo>
                <a:lnTo>
                  <a:pt x="0" y="1179980"/>
                </a:lnTo>
                <a:lnTo>
                  <a:pt x="0" y="0"/>
                </a:lnTo>
                <a:close/>
              </a:path>
            </a:pathLst>
          </a:custGeom>
          <a:blipFill>
            <a:blip r:embed="rId3"/>
            <a:stretch>
              <a:fillRect l="-13639" t="0" r="0" b="0"/>
            </a:stretch>
          </a:blipFill>
        </p:spPr>
      </p:sp>
      <p:sp>
        <p:nvSpPr>
          <p:cNvPr name="Freeform 7" id="7"/>
          <p:cNvSpPr/>
          <p:nvPr/>
        </p:nvSpPr>
        <p:spPr>
          <a:xfrm flipH="false" flipV="false" rot="0">
            <a:off x="6211546" y="8657760"/>
            <a:ext cx="437806" cy="492094"/>
          </a:xfrm>
          <a:custGeom>
            <a:avLst/>
            <a:gdLst/>
            <a:ahLst/>
            <a:cxnLst/>
            <a:rect r="r" b="b" t="t" l="l"/>
            <a:pathLst>
              <a:path h="492094" w="437806">
                <a:moveTo>
                  <a:pt x="0" y="0"/>
                </a:moveTo>
                <a:lnTo>
                  <a:pt x="437806" y="0"/>
                </a:lnTo>
                <a:lnTo>
                  <a:pt x="437806" y="492094"/>
                </a:lnTo>
                <a:lnTo>
                  <a:pt x="0" y="492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430449" y="4436109"/>
            <a:ext cx="10422254" cy="2986406"/>
          </a:xfrm>
          <a:prstGeom prst="rect">
            <a:avLst/>
          </a:prstGeom>
        </p:spPr>
        <p:txBody>
          <a:bodyPr anchor="t" rtlCol="false" tIns="0" lIns="0" bIns="0" rIns="0">
            <a:spAutoFit/>
          </a:bodyPr>
          <a:lstStyle/>
          <a:p>
            <a:pPr algn="r">
              <a:lnSpc>
                <a:spcPts val="11060"/>
              </a:lnSpc>
            </a:pPr>
            <a:r>
              <a:rPr lang="en-US" sz="14000">
                <a:solidFill>
                  <a:srgbClr val="FFFFFF"/>
                </a:solidFill>
                <a:latin typeface="Inter"/>
                <a:ea typeface="Inter"/>
                <a:cs typeface="Inter"/>
                <a:sym typeface="Inter"/>
              </a:rPr>
              <a:t>BRAND</a:t>
            </a:r>
          </a:p>
          <a:p>
            <a:pPr algn="r">
              <a:lnSpc>
                <a:spcPts val="11060"/>
              </a:lnSpc>
            </a:pPr>
            <a:r>
              <a:rPr lang="en-US" sz="14000">
                <a:solidFill>
                  <a:srgbClr val="FFFFFF"/>
                </a:solidFill>
                <a:latin typeface="Inter"/>
                <a:ea typeface="Inter"/>
                <a:cs typeface="Inter"/>
                <a:sym typeface="Inter"/>
              </a:rPr>
              <a:t>GUIDELINE</a:t>
            </a:r>
          </a:p>
        </p:txBody>
      </p:sp>
      <p:sp>
        <p:nvSpPr>
          <p:cNvPr name="TextBox 9" id="9"/>
          <p:cNvSpPr txBox="true"/>
          <p:nvPr/>
        </p:nvSpPr>
        <p:spPr>
          <a:xfrm rot="0">
            <a:off x="15731984" y="9820275"/>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TextBox 10" id="10"/>
          <p:cNvSpPr txBox="true"/>
          <p:nvPr/>
        </p:nvSpPr>
        <p:spPr>
          <a:xfrm rot="0">
            <a:off x="14851327" y="1322846"/>
            <a:ext cx="2001376" cy="674458"/>
          </a:xfrm>
          <a:prstGeom prst="rect">
            <a:avLst/>
          </a:prstGeom>
        </p:spPr>
        <p:txBody>
          <a:bodyPr anchor="t" rtlCol="false" tIns="0" lIns="0" bIns="0" rIns="0">
            <a:spAutoFit/>
          </a:bodyPr>
          <a:lstStyle/>
          <a:p>
            <a:pPr algn="r">
              <a:lnSpc>
                <a:spcPts val="4741"/>
              </a:lnSpc>
            </a:pPr>
            <a:r>
              <a:rPr lang="en-US" sz="6001">
                <a:solidFill>
                  <a:srgbClr val="F7FBFF"/>
                </a:solidFill>
                <a:latin typeface="Inter"/>
                <a:ea typeface="Inter"/>
                <a:cs typeface="Inter"/>
                <a:sym typeface="Inter"/>
              </a:rPr>
              <a:t>202</a:t>
            </a:r>
            <a:r>
              <a:rPr lang="en-US" sz="6001">
                <a:solidFill>
                  <a:srgbClr val="B9C85A"/>
                </a:solidFill>
                <a:latin typeface="Inter"/>
                <a:ea typeface="Inter"/>
                <a:cs typeface="Inter"/>
                <a:sym typeface="Inter"/>
              </a:rPr>
              <a:t>6</a:t>
            </a:r>
          </a:p>
        </p:txBody>
      </p:sp>
      <p:sp>
        <p:nvSpPr>
          <p:cNvPr name="AutoShape 11" id="11"/>
          <p:cNvSpPr/>
          <p:nvPr/>
        </p:nvSpPr>
        <p:spPr>
          <a:xfrm>
            <a:off x="5201293" y="2448877"/>
            <a:ext cx="12477107" cy="0"/>
          </a:xfrm>
          <a:prstGeom prst="line">
            <a:avLst/>
          </a:prstGeom>
          <a:ln cap="flat" w="9525">
            <a:solidFill>
              <a:srgbClr val="F7FBFF"/>
            </a:solidFill>
            <a:prstDash val="solid"/>
            <a:headEnd type="none" len="sm" w="sm"/>
            <a:tailEnd type="none" len="sm" w="sm"/>
          </a:ln>
        </p:spPr>
      </p:sp>
      <p:sp>
        <p:nvSpPr>
          <p:cNvPr name="AutoShape 12" id="12"/>
          <p:cNvSpPr/>
          <p:nvPr/>
        </p:nvSpPr>
        <p:spPr>
          <a:xfrm flipV="true">
            <a:off x="17678400" y="514350"/>
            <a:ext cx="0" cy="9258298"/>
          </a:xfrm>
          <a:prstGeom prst="line">
            <a:avLst/>
          </a:prstGeom>
          <a:ln cap="flat" w="9525">
            <a:solidFill>
              <a:srgbClr val="F7FBF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702990" y="978134"/>
            <a:ext cx="20092342" cy="9308866"/>
            <a:chOff x="0" y="0"/>
            <a:chExt cx="4852789" cy="2248317"/>
          </a:xfrm>
        </p:grpSpPr>
        <p:sp>
          <p:nvSpPr>
            <p:cNvPr name="Freeform 3" id="3"/>
            <p:cNvSpPr/>
            <p:nvPr/>
          </p:nvSpPr>
          <p:spPr>
            <a:xfrm flipH="false" flipV="false" rot="0">
              <a:off x="0" y="0"/>
              <a:ext cx="4852789" cy="2248317"/>
            </a:xfrm>
            <a:custGeom>
              <a:avLst/>
              <a:gdLst/>
              <a:ahLst/>
              <a:cxnLst/>
              <a:rect r="r" b="b" t="t" l="l"/>
              <a:pathLst>
                <a:path h="2248317" w="4852789">
                  <a:moveTo>
                    <a:pt x="38532" y="0"/>
                  </a:moveTo>
                  <a:lnTo>
                    <a:pt x="4814257" y="0"/>
                  </a:lnTo>
                  <a:cubicBezTo>
                    <a:pt x="4835537" y="0"/>
                    <a:pt x="4852789" y="17251"/>
                    <a:pt x="4852789" y="38532"/>
                  </a:cubicBezTo>
                  <a:lnTo>
                    <a:pt x="4852789" y="2209786"/>
                  </a:lnTo>
                  <a:cubicBezTo>
                    <a:pt x="4852789" y="2231066"/>
                    <a:pt x="4835537" y="2248317"/>
                    <a:pt x="4814257" y="2248317"/>
                  </a:cubicBezTo>
                  <a:lnTo>
                    <a:pt x="38532" y="2248317"/>
                  </a:lnTo>
                  <a:cubicBezTo>
                    <a:pt x="17251" y="2248317"/>
                    <a:pt x="0" y="2231066"/>
                    <a:pt x="0" y="2209786"/>
                  </a:cubicBezTo>
                  <a:lnTo>
                    <a:pt x="0" y="38532"/>
                  </a:lnTo>
                  <a:cubicBezTo>
                    <a:pt x="0" y="17251"/>
                    <a:pt x="17251" y="0"/>
                    <a:pt x="38532" y="0"/>
                  </a:cubicBezTo>
                  <a:close/>
                </a:path>
              </a:pathLst>
            </a:custGeom>
            <a:solidFill>
              <a:srgbClr val="140C3D"/>
            </a:solidFill>
          </p:spPr>
        </p:sp>
        <p:sp>
          <p:nvSpPr>
            <p:cNvPr name="TextBox 4" id="4"/>
            <p:cNvSpPr txBox="true"/>
            <p:nvPr/>
          </p:nvSpPr>
          <p:spPr>
            <a:xfrm>
              <a:off x="0" y="-47625"/>
              <a:ext cx="4852789" cy="2295942"/>
            </a:xfrm>
            <a:prstGeom prst="rect">
              <a:avLst/>
            </a:prstGeom>
          </p:spPr>
          <p:txBody>
            <a:bodyPr anchor="ctr" rtlCol="false" tIns="50800" lIns="50800" bIns="50800" rIns="50800"/>
            <a:lstStyle/>
            <a:p>
              <a:pPr algn="ctr">
                <a:lnSpc>
                  <a:spcPts val="3634"/>
                </a:lnSpc>
              </a:pPr>
            </a:p>
          </p:txBody>
        </p:sp>
      </p:grpSp>
      <p:sp>
        <p:nvSpPr>
          <p:cNvPr name="TextBox 5" id="5"/>
          <p:cNvSpPr txBox="true"/>
          <p:nvPr/>
        </p:nvSpPr>
        <p:spPr>
          <a:xfrm rot="0">
            <a:off x="1028700" y="1579192"/>
            <a:ext cx="9138908" cy="2803802"/>
          </a:xfrm>
          <a:prstGeom prst="rect">
            <a:avLst/>
          </a:prstGeom>
        </p:spPr>
        <p:txBody>
          <a:bodyPr anchor="t" rtlCol="false" tIns="0" lIns="0" bIns="0" rIns="0">
            <a:spAutoFit/>
          </a:bodyPr>
          <a:lstStyle/>
          <a:p>
            <a:pPr algn="l">
              <a:lnSpc>
                <a:spcPts val="10673"/>
              </a:lnSpc>
            </a:pPr>
            <a:r>
              <a:rPr lang="en-US" sz="11354">
                <a:solidFill>
                  <a:srgbClr val="FFFFFF"/>
                </a:solidFill>
                <a:latin typeface="Inter"/>
                <a:ea typeface="Inter"/>
                <a:cs typeface="Inter"/>
                <a:sym typeface="Inter"/>
              </a:rPr>
              <a:t>ABOUT THE BRAND</a:t>
            </a:r>
          </a:p>
        </p:txBody>
      </p:sp>
      <p:sp>
        <p:nvSpPr>
          <p:cNvPr name="TextBox 6" id="6"/>
          <p:cNvSpPr txBox="true"/>
          <p:nvPr/>
        </p:nvSpPr>
        <p:spPr>
          <a:xfrm rot="0">
            <a:off x="11138879" y="6809432"/>
            <a:ext cx="5288294" cy="496790"/>
          </a:xfrm>
          <a:prstGeom prst="rect">
            <a:avLst/>
          </a:prstGeom>
        </p:spPr>
        <p:txBody>
          <a:bodyPr anchor="t" rtlCol="false" tIns="0" lIns="0" bIns="0" rIns="0">
            <a:spAutoFit/>
          </a:bodyPr>
          <a:lstStyle/>
          <a:p>
            <a:pPr algn="ctr">
              <a:lnSpc>
                <a:spcPts val="4117"/>
              </a:lnSpc>
            </a:pPr>
            <a:r>
              <a:rPr lang="en-US" sz="2941">
                <a:solidFill>
                  <a:srgbClr val="FFFFFF"/>
                </a:solidFill>
                <a:latin typeface="Inter"/>
                <a:ea typeface="Inter"/>
                <a:cs typeface="Inter"/>
                <a:sym typeface="Inter"/>
              </a:rPr>
              <a:t>Clarity • Control • Confidence</a:t>
            </a:r>
          </a:p>
        </p:txBody>
      </p:sp>
      <p:sp>
        <p:nvSpPr>
          <p:cNvPr name="TextBox 7" id="7"/>
          <p:cNvSpPr txBox="true"/>
          <p:nvPr/>
        </p:nvSpPr>
        <p:spPr>
          <a:xfrm rot="0">
            <a:off x="1028700" y="5689402"/>
            <a:ext cx="7977223" cy="1397000"/>
          </a:xfrm>
          <a:prstGeom prst="rect">
            <a:avLst/>
          </a:prstGeom>
        </p:spPr>
        <p:txBody>
          <a:bodyPr anchor="t" rtlCol="false" tIns="0" lIns="0" bIns="0" rIns="0">
            <a:spAutoFit/>
          </a:bodyPr>
          <a:lstStyle/>
          <a:p>
            <a:pPr algn="just">
              <a:lnSpc>
                <a:spcPts val="2799"/>
              </a:lnSpc>
            </a:pPr>
            <a:r>
              <a:rPr lang="en-US" sz="1999">
                <a:solidFill>
                  <a:srgbClr val="FFFFFF"/>
                </a:solidFill>
                <a:latin typeface="Inter"/>
                <a:ea typeface="Inter"/>
                <a:cs typeface="Inter"/>
                <a:sym typeface="Inter"/>
              </a:rPr>
              <a:t>CavBot is a reliability copilot and analytics control-plane for the modern web — built to protect route integrity, improve recovery</a:t>
            </a:r>
            <a:r>
              <a:rPr lang="en-US" sz="1999">
                <a:solidFill>
                  <a:srgbClr val="FFFFFF"/>
                </a:solidFill>
                <a:latin typeface="Inter"/>
                <a:ea typeface="Inter"/>
                <a:cs typeface="Inter"/>
                <a:sym typeface="Inter"/>
              </a:rPr>
              <a:t> from 404s, maintain SEO continuity, and keep runtime feel stable as products evolve. </a:t>
            </a:r>
          </a:p>
        </p:txBody>
      </p:sp>
      <p:sp>
        <p:nvSpPr>
          <p:cNvPr name="TextBox 8" id="8"/>
          <p:cNvSpPr txBox="true"/>
          <p:nvPr/>
        </p:nvSpPr>
        <p:spPr>
          <a:xfrm rot="0">
            <a:off x="11510630" y="5565892"/>
            <a:ext cx="4544791" cy="645380"/>
          </a:xfrm>
          <a:prstGeom prst="rect">
            <a:avLst/>
          </a:prstGeom>
        </p:spPr>
        <p:txBody>
          <a:bodyPr anchor="t" rtlCol="false" tIns="0" lIns="0" bIns="0" rIns="0">
            <a:spAutoFit/>
          </a:bodyPr>
          <a:lstStyle/>
          <a:p>
            <a:pPr algn="ctr">
              <a:lnSpc>
                <a:spcPts val="5377"/>
              </a:lnSpc>
            </a:pPr>
            <a:r>
              <a:rPr lang="en-US" sz="3841">
                <a:solidFill>
                  <a:srgbClr val="FFFFFF"/>
                </a:solidFill>
                <a:latin typeface="Inter"/>
                <a:ea typeface="Inter"/>
                <a:cs typeface="Inter"/>
                <a:sym typeface="Inter"/>
              </a:rPr>
              <a:t>C</a:t>
            </a:r>
            <a:r>
              <a:rPr lang="en-US" sz="3841">
                <a:solidFill>
                  <a:srgbClr val="B9C85A"/>
                </a:solidFill>
                <a:latin typeface="Inter"/>
                <a:ea typeface="Inter"/>
                <a:cs typeface="Inter"/>
                <a:sym typeface="Inter"/>
              </a:rPr>
              <a:t>O</a:t>
            </a:r>
            <a:r>
              <a:rPr lang="en-US" sz="3841">
                <a:solidFill>
                  <a:srgbClr val="FFFFFF"/>
                </a:solidFill>
                <a:latin typeface="Inter"/>
                <a:ea typeface="Inter"/>
                <a:cs typeface="Inter"/>
                <a:sym typeface="Inter"/>
              </a:rPr>
              <a:t>RE VALUES</a:t>
            </a:r>
          </a:p>
        </p:txBody>
      </p:sp>
      <p:sp>
        <p:nvSpPr>
          <p:cNvPr name="TextBox 9" id="9"/>
          <p:cNvSpPr txBox="true"/>
          <p:nvPr/>
        </p:nvSpPr>
        <p:spPr>
          <a:xfrm rot="0">
            <a:off x="1028700" y="7667427"/>
            <a:ext cx="7977223" cy="1044575"/>
          </a:xfrm>
          <a:prstGeom prst="rect">
            <a:avLst/>
          </a:prstGeom>
        </p:spPr>
        <p:txBody>
          <a:bodyPr anchor="t" rtlCol="false" tIns="0" lIns="0" bIns="0" rIns="0">
            <a:spAutoFit/>
          </a:bodyPr>
          <a:lstStyle/>
          <a:p>
            <a:pPr algn="just">
              <a:lnSpc>
                <a:spcPts val="2799"/>
              </a:lnSpc>
            </a:pPr>
            <a:r>
              <a:rPr lang="en-US" sz="1999">
                <a:solidFill>
                  <a:srgbClr val="FFFFFF"/>
                </a:solidFill>
                <a:latin typeface="Inter"/>
                <a:ea typeface="Inter"/>
                <a:cs typeface="Inter"/>
                <a:sym typeface="Inter"/>
              </a:rPr>
              <a:t>Through CavCore Console, teams can review signals, trends, and recovery</a:t>
            </a:r>
            <a:r>
              <a:rPr lang="en-US" sz="1999">
                <a:solidFill>
                  <a:srgbClr val="FFFFFF"/>
                </a:solidFill>
                <a:latin typeface="Inter"/>
                <a:ea typeface="Inter"/>
                <a:cs typeface="Inter"/>
                <a:sym typeface="Inter"/>
              </a:rPr>
              <a:t> paths as a structured system — designed for clear action rather than noisy dashboards.</a:t>
            </a:r>
          </a:p>
        </p:txBody>
      </p:sp>
      <p:sp>
        <p:nvSpPr>
          <p:cNvPr name="Freeform 10" id="10"/>
          <p:cNvSpPr/>
          <p:nvPr/>
        </p:nvSpPr>
        <p:spPr>
          <a:xfrm flipH="false" flipV="false" rot="0">
            <a:off x="1028700" y="263807"/>
            <a:ext cx="407158" cy="450521"/>
          </a:xfrm>
          <a:custGeom>
            <a:avLst/>
            <a:gdLst/>
            <a:ahLst/>
            <a:cxnLst/>
            <a:rect r="r" b="b" t="t" l="l"/>
            <a:pathLst>
              <a:path h="450521" w="407158">
                <a:moveTo>
                  <a:pt x="0" y="0"/>
                </a:moveTo>
                <a:lnTo>
                  <a:pt x="407158" y="0"/>
                </a:lnTo>
                <a:lnTo>
                  <a:pt x="407158" y="450520"/>
                </a:lnTo>
                <a:lnTo>
                  <a:pt x="0" y="450520"/>
                </a:lnTo>
                <a:lnTo>
                  <a:pt x="0" y="0"/>
                </a:lnTo>
                <a:close/>
              </a:path>
            </a:pathLst>
          </a:custGeom>
          <a:blipFill>
            <a:blip r:embed="rId2"/>
            <a:stretch>
              <a:fillRect l="0" t="0" r="0" b="0"/>
            </a:stretch>
          </a:blipFill>
        </p:spPr>
      </p:sp>
      <p:sp>
        <p:nvSpPr>
          <p:cNvPr name="Freeform 11" id="11"/>
          <p:cNvSpPr/>
          <p:nvPr/>
        </p:nvSpPr>
        <p:spPr>
          <a:xfrm flipH="false" flipV="false" rot="0">
            <a:off x="1585956" y="47625"/>
            <a:ext cx="1553834" cy="882884"/>
          </a:xfrm>
          <a:custGeom>
            <a:avLst/>
            <a:gdLst/>
            <a:ahLst/>
            <a:cxnLst/>
            <a:rect r="r" b="b" t="t" l="l"/>
            <a:pathLst>
              <a:path h="882884" w="1553834">
                <a:moveTo>
                  <a:pt x="0" y="0"/>
                </a:moveTo>
                <a:lnTo>
                  <a:pt x="1553834" y="0"/>
                </a:lnTo>
                <a:lnTo>
                  <a:pt x="1553834" y="882884"/>
                </a:lnTo>
                <a:lnTo>
                  <a:pt x="0" y="882884"/>
                </a:lnTo>
                <a:lnTo>
                  <a:pt x="0" y="0"/>
                </a:lnTo>
                <a:close/>
              </a:path>
            </a:pathLst>
          </a:custGeom>
          <a:blipFill>
            <a:blip r:embed="rId3"/>
            <a:stretch>
              <a:fillRect l="-13639" t="0" r="0" b="0"/>
            </a:stretch>
          </a:blipFill>
        </p:spPr>
      </p:sp>
      <p:sp>
        <p:nvSpPr>
          <p:cNvPr name="TextBox 12" id="12"/>
          <p:cNvSpPr txBox="true"/>
          <p:nvPr/>
        </p:nvSpPr>
        <p:spPr>
          <a:xfrm rot="0">
            <a:off x="15825716" y="300154"/>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AutoShape 13" id="13"/>
          <p:cNvSpPr/>
          <p:nvPr/>
        </p:nvSpPr>
        <p:spPr>
          <a:xfrm flipV="true">
            <a:off x="0" y="4741165"/>
            <a:ext cx="18288000" cy="0"/>
          </a:xfrm>
          <a:prstGeom prst="line">
            <a:avLst/>
          </a:prstGeom>
          <a:ln cap="flat" w="9525">
            <a:solidFill>
              <a:srgbClr val="F7FBFF"/>
            </a:solidFill>
            <a:prstDash val="solid"/>
            <a:headEnd type="none" len="sm" w="sm"/>
            <a:tailEnd type="none" len="sm" w="sm"/>
          </a:ln>
        </p:spPr>
      </p:sp>
      <p:sp>
        <p:nvSpPr>
          <p:cNvPr name="AutoShape 14" id="14"/>
          <p:cNvSpPr/>
          <p:nvPr/>
        </p:nvSpPr>
        <p:spPr>
          <a:xfrm>
            <a:off x="24" y="9821545"/>
            <a:ext cx="18288000" cy="91757"/>
          </a:xfrm>
          <a:prstGeom prst="line">
            <a:avLst/>
          </a:prstGeom>
          <a:ln cap="flat" w="9525">
            <a:solidFill>
              <a:srgbClr val="F7FBFF"/>
            </a:solidFill>
            <a:prstDash val="solid"/>
            <a:headEnd type="none" len="sm" w="sm"/>
            <a:tailEnd type="none" len="sm" w="sm"/>
          </a:ln>
        </p:spPr>
      </p:sp>
      <p:sp>
        <p:nvSpPr>
          <p:cNvPr name="Freeform 15" id="15"/>
          <p:cNvSpPr/>
          <p:nvPr/>
        </p:nvSpPr>
        <p:spPr>
          <a:xfrm flipH="false" flipV="false" rot="1646178">
            <a:off x="15299162" y="2277700"/>
            <a:ext cx="437806" cy="492094"/>
          </a:xfrm>
          <a:custGeom>
            <a:avLst/>
            <a:gdLst/>
            <a:ahLst/>
            <a:cxnLst/>
            <a:rect r="r" b="b" t="t" l="l"/>
            <a:pathLst>
              <a:path h="492094" w="437806">
                <a:moveTo>
                  <a:pt x="0" y="0"/>
                </a:moveTo>
                <a:lnTo>
                  <a:pt x="437806" y="0"/>
                </a:lnTo>
                <a:lnTo>
                  <a:pt x="437806" y="492093"/>
                </a:lnTo>
                <a:lnTo>
                  <a:pt x="0" y="492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1288816" y="-1359115"/>
            <a:ext cx="21124355" cy="10617415"/>
            <a:chOff x="0" y="0"/>
            <a:chExt cx="5102045" cy="2564364"/>
          </a:xfrm>
        </p:grpSpPr>
        <p:sp>
          <p:nvSpPr>
            <p:cNvPr name="Freeform 3" id="3"/>
            <p:cNvSpPr/>
            <p:nvPr/>
          </p:nvSpPr>
          <p:spPr>
            <a:xfrm flipH="false" flipV="false" rot="0">
              <a:off x="0" y="0"/>
              <a:ext cx="5102045" cy="2564364"/>
            </a:xfrm>
            <a:custGeom>
              <a:avLst/>
              <a:gdLst/>
              <a:ahLst/>
              <a:cxnLst/>
              <a:rect r="r" b="b" t="t" l="l"/>
              <a:pathLst>
                <a:path h="2564364" w="5102045">
                  <a:moveTo>
                    <a:pt x="36649" y="0"/>
                  </a:moveTo>
                  <a:lnTo>
                    <a:pt x="5065396" y="0"/>
                  </a:lnTo>
                  <a:cubicBezTo>
                    <a:pt x="5085637" y="0"/>
                    <a:pt x="5102045" y="16408"/>
                    <a:pt x="5102045" y="36649"/>
                  </a:cubicBezTo>
                  <a:lnTo>
                    <a:pt x="5102045" y="2527714"/>
                  </a:lnTo>
                  <a:cubicBezTo>
                    <a:pt x="5102045" y="2537434"/>
                    <a:pt x="5098184" y="2546756"/>
                    <a:pt x="5091311" y="2553629"/>
                  </a:cubicBezTo>
                  <a:cubicBezTo>
                    <a:pt x="5084438" y="2560502"/>
                    <a:pt x="5075116" y="2564364"/>
                    <a:pt x="5065396" y="2564364"/>
                  </a:cubicBezTo>
                  <a:lnTo>
                    <a:pt x="36649" y="2564364"/>
                  </a:lnTo>
                  <a:cubicBezTo>
                    <a:pt x="26929" y="2564364"/>
                    <a:pt x="17607" y="2560502"/>
                    <a:pt x="10734" y="2553629"/>
                  </a:cubicBezTo>
                  <a:cubicBezTo>
                    <a:pt x="3861" y="2546756"/>
                    <a:pt x="0" y="2537434"/>
                    <a:pt x="0" y="2527714"/>
                  </a:cubicBezTo>
                  <a:lnTo>
                    <a:pt x="0" y="36649"/>
                  </a:lnTo>
                  <a:cubicBezTo>
                    <a:pt x="0" y="26929"/>
                    <a:pt x="3861" y="17607"/>
                    <a:pt x="10734" y="10734"/>
                  </a:cubicBezTo>
                  <a:cubicBezTo>
                    <a:pt x="17607" y="3861"/>
                    <a:pt x="26929" y="0"/>
                    <a:pt x="36649" y="0"/>
                  </a:cubicBezTo>
                  <a:close/>
                </a:path>
              </a:pathLst>
            </a:custGeom>
            <a:solidFill>
              <a:srgbClr val="140C3D"/>
            </a:solidFill>
          </p:spPr>
        </p:sp>
        <p:sp>
          <p:nvSpPr>
            <p:cNvPr name="TextBox 4" id="4"/>
            <p:cNvSpPr txBox="true"/>
            <p:nvPr/>
          </p:nvSpPr>
          <p:spPr>
            <a:xfrm>
              <a:off x="0" y="-47625"/>
              <a:ext cx="5102045" cy="2611989"/>
            </a:xfrm>
            <a:prstGeom prst="rect">
              <a:avLst/>
            </a:prstGeom>
          </p:spPr>
          <p:txBody>
            <a:bodyPr anchor="ctr" rtlCol="false" tIns="50800" lIns="50800" bIns="50800" rIns="50800"/>
            <a:lstStyle/>
            <a:p>
              <a:pPr algn="ctr">
                <a:lnSpc>
                  <a:spcPts val="3634"/>
                </a:lnSpc>
              </a:pPr>
            </a:p>
          </p:txBody>
        </p:sp>
      </p:grpSp>
      <p:sp>
        <p:nvSpPr>
          <p:cNvPr name="TextBox 5" id="5"/>
          <p:cNvSpPr txBox="true"/>
          <p:nvPr/>
        </p:nvSpPr>
        <p:spPr>
          <a:xfrm rot="0">
            <a:off x="734585" y="1142283"/>
            <a:ext cx="15460608" cy="1504188"/>
          </a:xfrm>
          <a:prstGeom prst="rect">
            <a:avLst/>
          </a:prstGeom>
        </p:spPr>
        <p:txBody>
          <a:bodyPr anchor="t" rtlCol="false" tIns="0" lIns="0" bIns="0" rIns="0">
            <a:spAutoFit/>
          </a:bodyPr>
          <a:lstStyle/>
          <a:p>
            <a:pPr algn="l">
              <a:lnSpc>
                <a:spcPts val="11286"/>
              </a:lnSpc>
            </a:pPr>
            <a:r>
              <a:rPr lang="en-US" sz="11400">
                <a:solidFill>
                  <a:srgbClr val="FFFFFF"/>
                </a:solidFill>
                <a:latin typeface="Inter"/>
                <a:ea typeface="Inter"/>
                <a:cs typeface="Inter"/>
                <a:sym typeface="Inter"/>
              </a:rPr>
              <a:t>VISION &amp; MISSION</a:t>
            </a:r>
          </a:p>
        </p:txBody>
      </p:sp>
      <p:sp>
        <p:nvSpPr>
          <p:cNvPr name="TextBox 6" id="6"/>
          <p:cNvSpPr txBox="true"/>
          <p:nvPr/>
        </p:nvSpPr>
        <p:spPr>
          <a:xfrm rot="0">
            <a:off x="734585" y="4105962"/>
            <a:ext cx="4488337" cy="645380"/>
          </a:xfrm>
          <a:prstGeom prst="rect">
            <a:avLst/>
          </a:prstGeom>
        </p:spPr>
        <p:txBody>
          <a:bodyPr anchor="t" rtlCol="false" tIns="0" lIns="0" bIns="0" rIns="0">
            <a:spAutoFit/>
          </a:bodyPr>
          <a:lstStyle/>
          <a:p>
            <a:pPr algn="l">
              <a:lnSpc>
                <a:spcPts val="5377"/>
              </a:lnSpc>
            </a:pPr>
            <a:r>
              <a:rPr lang="en-US" sz="3841">
                <a:solidFill>
                  <a:srgbClr val="FFFFFF"/>
                </a:solidFill>
                <a:latin typeface="Inter"/>
                <a:ea typeface="Inter"/>
                <a:cs typeface="Inter"/>
                <a:sym typeface="Inter"/>
              </a:rPr>
              <a:t>VISION</a:t>
            </a:r>
          </a:p>
        </p:txBody>
      </p:sp>
      <p:sp>
        <p:nvSpPr>
          <p:cNvPr name="TextBox 7" id="7"/>
          <p:cNvSpPr txBox="true"/>
          <p:nvPr/>
        </p:nvSpPr>
        <p:spPr>
          <a:xfrm rot="0">
            <a:off x="12321539" y="5633087"/>
            <a:ext cx="2355933" cy="645380"/>
          </a:xfrm>
          <a:prstGeom prst="rect">
            <a:avLst/>
          </a:prstGeom>
        </p:spPr>
        <p:txBody>
          <a:bodyPr anchor="t" rtlCol="false" tIns="0" lIns="0" bIns="0" rIns="0">
            <a:spAutoFit/>
          </a:bodyPr>
          <a:lstStyle/>
          <a:p>
            <a:pPr algn="l">
              <a:lnSpc>
                <a:spcPts val="5377"/>
              </a:lnSpc>
            </a:pPr>
            <a:r>
              <a:rPr lang="en-US" sz="3841">
                <a:solidFill>
                  <a:srgbClr val="FFFFFF"/>
                </a:solidFill>
                <a:latin typeface="Inter"/>
                <a:ea typeface="Inter"/>
                <a:cs typeface="Inter"/>
                <a:sym typeface="Inter"/>
              </a:rPr>
              <a:t>MISSI</a:t>
            </a:r>
            <a:r>
              <a:rPr lang="en-US" sz="3841">
                <a:solidFill>
                  <a:srgbClr val="B9C85A"/>
                </a:solidFill>
                <a:latin typeface="Inter"/>
                <a:ea typeface="Inter"/>
                <a:cs typeface="Inter"/>
                <a:sym typeface="Inter"/>
              </a:rPr>
              <a:t>O</a:t>
            </a:r>
            <a:r>
              <a:rPr lang="en-US" sz="3841">
                <a:solidFill>
                  <a:srgbClr val="FFFFFF"/>
                </a:solidFill>
                <a:latin typeface="Inter"/>
                <a:ea typeface="Inter"/>
                <a:cs typeface="Inter"/>
                <a:sym typeface="Inter"/>
              </a:rPr>
              <a:t>N</a:t>
            </a:r>
          </a:p>
        </p:txBody>
      </p:sp>
      <p:sp>
        <p:nvSpPr>
          <p:cNvPr name="TextBox 8" id="8"/>
          <p:cNvSpPr txBox="true"/>
          <p:nvPr/>
        </p:nvSpPr>
        <p:spPr>
          <a:xfrm rot="0">
            <a:off x="734585" y="5447777"/>
            <a:ext cx="7237211" cy="1044575"/>
          </a:xfrm>
          <a:prstGeom prst="rect">
            <a:avLst/>
          </a:prstGeom>
        </p:spPr>
        <p:txBody>
          <a:bodyPr anchor="t" rtlCol="false" tIns="0" lIns="0" bIns="0" rIns="0">
            <a:spAutoFit/>
          </a:bodyPr>
          <a:lstStyle/>
          <a:p>
            <a:pPr algn="l">
              <a:lnSpc>
                <a:spcPts val="2799"/>
              </a:lnSpc>
            </a:pPr>
            <a:r>
              <a:rPr lang="en-US" sz="1999">
                <a:solidFill>
                  <a:srgbClr val="FFFFFF"/>
                </a:solidFill>
                <a:latin typeface="Inter"/>
                <a:ea typeface="Inter"/>
                <a:cs typeface="Inter"/>
                <a:sym typeface="Inter"/>
              </a:rPr>
              <a:t>T</a:t>
            </a:r>
            <a:r>
              <a:rPr lang="en-US" sz="1999">
                <a:solidFill>
                  <a:srgbClr val="FFFFFF"/>
                </a:solidFill>
                <a:latin typeface="Inter"/>
                <a:ea typeface="Inter"/>
                <a:cs typeface="Inter"/>
                <a:sym typeface="Inter"/>
              </a:rPr>
              <a:t>o make every serious website feel calm, predictable, and monitored—without turning small teams into SRE departments.</a:t>
            </a:r>
          </a:p>
        </p:txBody>
      </p:sp>
      <p:sp>
        <p:nvSpPr>
          <p:cNvPr name="TextBox 9" id="9"/>
          <p:cNvSpPr txBox="true"/>
          <p:nvPr/>
        </p:nvSpPr>
        <p:spPr>
          <a:xfrm rot="0">
            <a:off x="9717239" y="6954655"/>
            <a:ext cx="7564533" cy="656590"/>
          </a:xfrm>
          <a:prstGeom prst="rect">
            <a:avLst/>
          </a:prstGeom>
        </p:spPr>
        <p:txBody>
          <a:bodyPr anchor="t" rtlCol="false" tIns="0" lIns="0" bIns="0" rIns="0">
            <a:spAutoFit/>
          </a:bodyPr>
          <a:lstStyle/>
          <a:p>
            <a:pPr algn="ctr">
              <a:lnSpc>
                <a:spcPts val="2659"/>
              </a:lnSpc>
            </a:pPr>
            <a:r>
              <a:rPr lang="en-US" sz="1899">
                <a:solidFill>
                  <a:srgbClr val="FFFFFF"/>
                </a:solidFill>
                <a:latin typeface="Inter"/>
                <a:ea typeface="Inter"/>
                <a:cs typeface="Inter"/>
                <a:sym typeface="Inter"/>
              </a:rPr>
              <a:t>CavB</a:t>
            </a:r>
            <a:r>
              <a:rPr lang="en-US" sz="1899">
                <a:solidFill>
                  <a:srgbClr val="FFFFFF"/>
                </a:solidFill>
                <a:latin typeface="Inter"/>
                <a:ea typeface="Inter"/>
                <a:cs typeface="Inter"/>
                <a:sym typeface="Inter"/>
              </a:rPr>
              <a:t>ot builds opinionated tools that turn routes, 404s, SEO, and runt</a:t>
            </a:r>
            <a:r>
              <a:rPr lang="en-US" sz="1899">
                <a:solidFill>
                  <a:srgbClr val="FFFFFF"/>
                </a:solidFill>
                <a:latin typeface="Inter"/>
                <a:ea typeface="Inter"/>
                <a:cs typeface="Inter"/>
                <a:sym typeface="Inter"/>
              </a:rPr>
              <a:t>ime feel into a single, readable signal for modern web teams.</a:t>
            </a:r>
          </a:p>
        </p:txBody>
      </p:sp>
      <p:sp>
        <p:nvSpPr>
          <p:cNvPr name="TextBox 10" id="10"/>
          <p:cNvSpPr txBox="true"/>
          <p:nvPr/>
        </p:nvSpPr>
        <p:spPr>
          <a:xfrm rot="0">
            <a:off x="734585" y="7050371"/>
            <a:ext cx="6698251" cy="1749425"/>
          </a:xfrm>
          <a:prstGeom prst="rect">
            <a:avLst/>
          </a:prstGeom>
        </p:spPr>
        <p:txBody>
          <a:bodyPr anchor="t" rtlCol="false" tIns="0" lIns="0" bIns="0" rIns="0">
            <a:spAutoFit/>
          </a:bodyPr>
          <a:lstStyle/>
          <a:p>
            <a:pPr algn="l">
              <a:lnSpc>
                <a:spcPts val="2799"/>
              </a:lnSpc>
            </a:pPr>
            <a:r>
              <a:rPr lang="en-US" sz="1999">
                <a:solidFill>
                  <a:srgbClr val="FFFFFF"/>
                </a:solidFill>
                <a:latin typeface="Inter"/>
                <a:ea typeface="Inter"/>
                <a:cs typeface="Inter"/>
                <a:sym typeface="Inter"/>
              </a:rPr>
              <a:t>In </a:t>
            </a:r>
            <a:r>
              <a:rPr lang="en-US" sz="1999">
                <a:solidFill>
                  <a:srgbClr val="FFFFFF"/>
                </a:solidFill>
                <a:latin typeface="Inter"/>
                <a:ea typeface="Inter"/>
                <a:cs typeface="Inter"/>
                <a:sym typeface="Inter"/>
              </a:rPr>
              <a:t>other words: if you run a serious site, you shouldn’t be guessing whether routes are breaking or SEO is quietly dying. CavBot becomes the quiet copilot always watching the map.</a:t>
            </a:r>
          </a:p>
          <a:p>
            <a:pPr algn="l">
              <a:lnSpc>
                <a:spcPts val="2799"/>
              </a:lnSpc>
            </a:pPr>
          </a:p>
        </p:txBody>
      </p:sp>
      <p:sp>
        <p:nvSpPr>
          <p:cNvPr name="AutoShape 11" id="11"/>
          <p:cNvSpPr/>
          <p:nvPr/>
        </p:nvSpPr>
        <p:spPr>
          <a:xfrm>
            <a:off x="-774180" y="3603734"/>
            <a:ext cx="19062180" cy="0"/>
          </a:xfrm>
          <a:prstGeom prst="line">
            <a:avLst/>
          </a:prstGeom>
          <a:ln cap="flat" w="9525">
            <a:solidFill>
              <a:srgbClr val="F7FBFF"/>
            </a:solidFill>
            <a:prstDash val="solid"/>
            <a:headEnd type="none" len="sm" w="sm"/>
            <a:tailEnd type="none" len="sm" w="sm"/>
          </a:ln>
        </p:spPr>
      </p:sp>
      <p:sp>
        <p:nvSpPr>
          <p:cNvPr name="TextBox 12" id="12"/>
          <p:cNvSpPr txBox="true"/>
          <p:nvPr/>
        </p:nvSpPr>
        <p:spPr>
          <a:xfrm rot="0">
            <a:off x="15626482" y="9616466"/>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13" id="13"/>
          <p:cNvSpPr/>
          <p:nvPr/>
        </p:nvSpPr>
        <p:spPr>
          <a:xfrm flipH="false" flipV="false" rot="0">
            <a:off x="734585" y="9580118"/>
            <a:ext cx="407158" cy="450521"/>
          </a:xfrm>
          <a:custGeom>
            <a:avLst/>
            <a:gdLst/>
            <a:ahLst/>
            <a:cxnLst/>
            <a:rect r="r" b="b" t="t" l="l"/>
            <a:pathLst>
              <a:path h="450521" w="407158">
                <a:moveTo>
                  <a:pt x="0" y="0"/>
                </a:moveTo>
                <a:lnTo>
                  <a:pt x="407158" y="0"/>
                </a:lnTo>
                <a:lnTo>
                  <a:pt x="407158" y="450521"/>
                </a:lnTo>
                <a:lnTo>
                  <a:pt x="0" y="450521"/>
                </a:lnTo>
                <a:lnTo>
                  <a:pt x="0" y="0"/>
                </a:lnTo>
                <a:close/>
              </a:path>
            </a:pathLst>
          </a:custGeom>
          <a:blipFill>
            <a:blip r:embed="rId2"/>
            <a:stretch>
              <a:fillRect l="0" t="0" r="0" b="0"/>
            </a:stretch>
          </a:blipFill>
        </p:spPr>
      </p:sp>
      <p:sp>
        <p:nvSpPr>
          <p:cNvPr name="Freeform 14" id="14"/>
          <p:cNvSpPr/>
          <p:nvPr/>
        </p:nvSpPr>
        <p:spPr>
          <a:xfrm flipH="false" flipV="false" rot="0">
            <a:off x="1291841" y="9363937"/>
            <a:ext cx="1553834" cy="882884"/>
          </a:xfrm>
          <a:custGeom>
            <a:avLst/>
            <a:gdLst/>
            <a:ahLst/>
            <a:cxnLst/>
            <a:rect r="r" b="b" t="t" l="l"/>
            <a:pathLst>
              <a:path h="882884" w="1553834">
                <a:moveTo>
                  <a:pt x="0" y="0"/>
                </a:moveTo>
                <a:lnTo>
                  <a:pt x="1553834" y="0"/>
                </a:lnTo>
                <a:lnTo>
                  <a:pt x="1553834" y="882884"/>
                </a:lnTo>
                <a:lnTo>
                  <a:pt x="0" y="882884"/>
                </a:lnTo>
                <a:lnTo>
                  <a:pt x="0" y="0"/>
                </a:lnTo>
                <a:close/>
              </a:path>
            </a:pathLst>
          </a:custGeom>
          <a:blipFill>
            <a:blip r:embed="rId3"/>
            <a:stretch>
              <a:fillRect l="-13639" t="0" r="0" b="0"/>
            </a:stretch>
          </a:blipFill>
        </p:spPr>
      </p:sp>
      <p:sp>
        <p:nvSpPr>
          <p:cNvPr name="Freeform 15" id="15"/>
          <p:cNvSpPr/>
          <p:nvPr/>
        </p:nvSpPr>
        <p:spPr>
          <a:xfrm flipH="false" flipV="false" rot="1646178">
            <a:off x="16755219" y="986871"/>
            <a:ext cx="437806" cy="492094"/>
          </a:xfrm>
          <a:custGeom>
            <a:avLst/>
            <a:gdLst/>
            <a:ahLst/>
            <a:cxnLst/>
            <a:rect r="r" b="b" t="t" l="l"/>
            <a:pathLst>
              <a:path h="492094" w="437806">
                <a:moveTo>
                  <a:pt x="0" y="0"/>
                </a:moveTo>
                <a:lnTo>
                  <a:pt x="437805" y="0"/>
                </a:lnTo>
                <a:lnTo>
                  <a:pt x="437805" y="492094"/>
                </a:lnTo>
                <a:lnTo>
                  <a:pt x="0" y="492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661848" y="514350"/>
            <a:ext cx="9596673" cy="9258300"/>
            <a:chOff x="0" y="0"/>
            <a:chExt cx="2317830" cy="2236104"/>
          </a:xfrm>
        </p:grpSpPr>
        <p:sp>
          <p:nvSpPr>
            <p:cNvPr name="Freeform 3" id="3"/>
            <p:cNvSpPr/>
            <p:nvPr/>
          </p:nvSpPr>
          <p:spPr>
            <a:xfrm flipH="false" flipV="false" rot="0">
              <a:off x="0" y="0"/>
              <a:ext cx="2317830" cy="2236104"/>
            </a:xfrm>
            <a:custGeom>
              <a:avLst/>
              <a:gdLst/>
              <a:ahLst/>
              <a:cxnLst/>
              <a:rect r="r" b="b" t="t" l="l"/>
              <a:pathLst>
                <a:path h="2236104" w="2317830">
                  <a:moveTo>
                    <a:pt x="80673" y="0"/>
                  </a:moveTo>
                  <a:lnTo>
                    <a:pt x="2237157" y="0"/>
                  </a:lnTo>
                  <a:cubicBezTo>
                    <a:pt x="2281711" y="0"/>
                    <a:pt x="2317830" y="36119"/>
                    <a:pt x="2317830" y="80673"/>
                  </a:cubicBezTo>
                  <a:lnTo>
                    <a:pt x="2317830" y="2155431"/>
                  </a:lnTo>
                  <a:cubicBezTo>
                    <a:pt x="2317830" y="2176827"/>
                    <a:pt x="2309330" y="2197347"/>
                    <a:pt x="2294201" y="2212476"/>
                  </a:cubicBezTo>
                  <a:cubicBezTo>
                    <a:pt x="2279072" y="2227605"/>
                    <a:pt x="2258553" y="2236104"/>
                    <a:pt x="2237157" y="2236104"/>
                  </a:cubicBezTo>
                  <a:lnTo>
                    <a:pt x="80673" y="2236104"/>
                  </a:lnTo>
                  <a:cubicBezTo>
                    <a:pt x="36119" y="2236104"/>
                    <a:pt x="0" y="2199986"/>
                    <a:pt x="0" y="2155431"/>
                  </a:cubicBezTo>
                  <a:lnTo>
                    <a:pt x="0" y="80673"/>
                  </a:lnTo>
                  <a:cubicBezTo>
                    <a:pt x="0" y="36119"/>
                    <a:pt x="36119" y="0"/>
                    <a:pt x="80673" y="0"/>
                  </a:cubicBezTo>
                  <a:close/>
                </a:path>
              </a:pathLst>
            </a:custGeom>
            <a:solidFill>
              <a:srgbClr val="140C3D"/>
            </a:solidFill>
          </p:spPr>
        </p:sp>
        <p:sp>
          <p:nvSpPr>
            <p:cNvPr name="TextBox 4" id="4"/>
            <p:cNvSpPr txBox="true"/>
            <p:nvPr/>
          </p:nvSpPr>
          <p:spPr>
            <a:xfrm>
              <a:off x="0" y="-47625"/>
              <a:ext cx="2317830" cy="2283729"/>
            </a:xfrm>
            <a:prstGeom prst="rect">
              <a:avLst/>
            </a:prstGeom>
          </p:spPr>
          <p:txBody>
            <a:bodyPr anchor="ctr" rtlCol="false" tIns="50800" lIns="50800" bIns="50800" rIns="50800"/>
            <a:lstStyle/>
            <a:p>
              <a:pPr algn="ctr">
                <a:lnSpc>
                  <a:spcPts val="3634"/>
                </a:lnSpc>
              </a:pPr>
            </a:p>
          </p:txBody>
        </p:sp>
      </p:grpSp>
      <p:sp>
        <p:nvSpPr>
          <p:cNvPr name="TextBox 5" id="5"/>
          <p:cNvSpPr txBox="true"/>
          <p:nvPr/>
        </p:nvSpPr>
        <p:spPr>
          <a:xfrm rot="0">
            <a:off x="1124557" y="2303344"/>
            <a:ext cx="7879484" cy="1948815"/>
          </a:xfrm>
          <a:prstGeom prst="rect">
            <a:avLst/>
          </a:prstGeom>
        </p:spPr>
        <p:txBody>
          <a:bodyPr anchor="t" rtlCol="false" tIns="0" lIns="0" bIns="0" rIns="0">
            <a:spAutoFit/>
          </a:bodyPr>
          <a:lstStyle/>
          <a:p>
            <a:pPr algn="l">
              <a:lnSpc>
                <a:spcPts val="15960"/>
              </a:lnSpc>
            </a:pPr>
            <a:r>
              <a:rPr lang="en-US" sz="11400">
                <a:solidFill>
                  <a:srgbClr val="FFFFFF"/>
                </a:solidFill>
                <a:latin typeface="Inter"/>
                <a:ea typeface="Inter"/>
                <a:cs typeface="Inter"/>
                <a:sym typeface="Inter"/>
              </a:rPr>
              <a:t>LOGO</a:t>
            </a:r>
          </a:p>
        </p:txBody>
      </p:sp>
      <p:sp>
        <p:nvSpPr>
          <p:cNvPr name="TextBox 6" id="6"/>
          <p:cNvSpPr txBox="true"/>
          <p:nvPr/>
        </p:nvSpPr>
        <p:spPr>
          <a:xfrm rot="0">
            <a:off x="1124557" y="5965061"/>
            <a:ext cx="4488337" cy="2920365"/>
          </a:xfrm>
          <a:prstGeom prst="rect">
            <a:avLst/>
          </a:prstGeom>
        </p:spPr>
        <p:txBody>
          <a:bodyPr anchor="t" rtlCol="false" tIns="0" lIns="0" bIns="0" rIns="0">
            <a:spAutoFit/>
          </a:bodyPr>
          <a:lstStyle/>
          <a:p>
            <a:pPr algn="l">
              <a:lnSpc>
                <a:spcPts val="3359"/>
              </a:lnSpc>
            </a:pPr>
            <a:r>
              <a:rPr lang="en-US" sz="2400">
                <a:solidFill>
                  <a:srgbClr val="FFFFFF"/>
                </a:solidFill>
                <a:latin typeface="Inter Light"/>
                <a:ea typeface="Inter Light"/>
                <a:cs typeface="Inter Light"/>
                <a:sym typeface="Inter Light"/>
              </a:rPr>
              <a:t>The CavBot logo combines a circular “C-eye” control ring and a calm sans-serif wordmark to express a quiet, precise reliability copilot watching over every route.</a:t>
            </a:r>
          </a:p>
          <a:p>
            <a:pPr algn="l">
              <a:lnSpc>
                <a:spcPts val="3359"/>
              </a:lnSpc>
            </a:pPr>
          </a:p>
        </p:txBody>
      </p:sp>
      <p:sp>
        <p:nvSpPr>
          <p:cNvPr name="TextBox 7" id="7"/>
          <p:cNvSpPr txBox="true"/>
          <p:nvPr/>
        </p:nvSpPr>
        <p:spPr>
          <a:xfrm rot="0">
            <a:off x="1124557" y="4724574"/>
            <a:ext cx="4488337" cy="588865"/>
          </a:xfrm>
          <a:prstGeom prst="rect">
            <a:avLst/>
          </a:prstGeom>
        </p:spPr>
        <p:txBody>
          <a:bodyPr anchor="t" rtlCol="false" tIns="0" lIns="0" bIns="0" rIns="0">
            <a:spAutoFit/>
          </a:bodyPr>
          <a:lstStyle/>
          <a:p>
            <a:pPr algn="l">
              <a:lnSpc>
                <a:spcPts val="4817"/>
              </a:lnSpc>
            </a:pPr>
            <a:r>
              <a:rPr lang="en-US" sz="3441">
                <a:solidFill>
                  <a:srgbClr val="FFFFFF"/>
                </a:solidFill>
                <a:latin typeface="Inter Light"/>
                <a:ea typeface="Inter Light"/>
                <a:cs typeface="Inter Light"/>
                <a:sym typeface="Inter Light"/>
              </a:rPr>
              <a:t>MEANING</a:t>
            </a:r>
          </a:p>
        </p:txBody>
      </p:sp>
      <p:sp>
        <p:nvSpPr>
          <p:cNvPr name="Freeform 8" id="8"/>
          <p:cNvSpPr/>
          <p:nvPr/>
        </p:nvSpPr>
        <p:spPr>
          <a:xfrm flipH="false" flipV="false" rot="0">
            <a:off x="10266504" y="4252159"/>
            <a:ext cx="1446335" cy="1600371"/>
          </a:xfrm>
          <a:custGeom>
            <a:avLst/>
            <a:gdLst/>
            <a:ahLst/>
            <a:cxnLst/>
            <a:rect r="r" b="b" t="t" l="l"/>
            <a:pathLst>
              <a:path h="1600371" w="1446335">
                <a:moveTo>
                  <a:pt x="0" y="0"/>
                </a:moveTo>
                <a:lnTo>
                  <a:pt x="1446336" y="0"/>
                </a:lnTo>
                <a:lnTo>
                  <a:pt x="1446336" y="1600371"/>
                </a:lnTo>
                <a:lnTo>
                  <a:pt x="0" y="1600371"/>
                </a:lnTo>
                <a:lnTo>
                  <a:pt x="0" y="0"/>
                </a:lnTo>
                <a:close/>
              </a:path>
            </a:pathLst>
          </a:custGeom>
          <a:blipFill>
            <a:blip r:embed="rId2"/>
            <a:stretch>
              <a:fillRect l="0" t="0" r="0" b="0"/>
            </a:stretch>
          </a:blipFill>
        </p:spPr>
      </p:sp>
      <p:sp>
        <p:nvSpPr>
          <p:cNvPr name="Freeform 9" id="9"/>
          <p:cNvSpPr/>
          <p:nvPr/>
        </p:nvSpPr>
        <p:spPr>
          <a:xfrm flipH="false" flipV="false" rot="0">
            <a:off x="12176279" y="4252159"/>
            <a:ext cx="4849526" cy="1600371"/>
          </a:xfrm>
          <a:custGeom>
            <a:avLst/>
            <a:gdLst/>
            <a:ahLst/>
            <a:cxnLst/>
            <a:rect r="r" b="b" t="t" l="l"/>
            <a:pathLst>
              <a:path h="1600371" w="4849526">
                <a:moveTo>
                  <a:pt x="0" y="0"/>
                </a:moveTo>
                <a:lnTo>
                  <a:pt x="4849526" y="0"/>
                </a:lnTo>
                <a:lnTo>
                  <a:pt x="4849526" y="1600371"/>
                </a:lnTo>
                <a:lnTo>
                  <a:pt x="0" y="1600371"/>
                </a:lnTo>
                <a:lnTo>
                  <a:pt x="0" y="0"/>
                </a:lnTo>
                <a:close/>
              </a:path>
            </a:pathLst>
          </a:custGeom>
          <a:blipFill>
            <a:blip r:embed="rId3"/>
            <a:stretch>
              <a:fillRect l="-15524" t="-47984" r="-13818" b="-47984"/>
            </a:stretch>
          </a:blipFill>
        </p:spPr>
      </p:sp>
      <p:sp>
        <p:nvSpPr>
          <p:cNvPr name="Freeform 10" id="10"/>
          <p:cNvSpPr/>
          <p:nvPr/>
        </p:nvSpPr>
        <p:spPr>
          <a:xfrm flipH="false" flipV="false" rot="1646178">
            <a:off x="7806988" y="8639380"/>
            <a:ext cx="437806" cy="492094"/>
          </a:xfrm>
          <a:custGeom>
            <a:avLst/>
            <a:gdLst/>
            <a:ahLst/>
            <a:cxnLst/>
            <a:rect r="r" b="b" t="t" l="l"/>
            <a:pathLst>
              <a:path h="492094" w="437806">
                <a:moveTo>
                  <a:pt x="0" y="0"/>
                </a:moveTo>
                <a:lnTo>
                  <a:pt x="437806" y="0"/>
                </a:lnTo>
                <a:lnTo>
                  <a:pt x="437806" y="492093"/>
                </a:lnTo>
                <a:lnTo>
                  <a:pt x="0" y="492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626482" y="9616466"/>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1055321" y="363198"/>
            <a:ext cx="10199321" cy="5414508"/>
            <a:chOff x="0" y="0"/>
            <a:chExt cx="2463384" cy="1307735"/>
          </a:xfrm>
        </p:grpSpPr>
        <p:sp>
          <p:nvSpPr>
            <p:cNvPr name="Freeform 3" id="3"/>
            <p:cNvSpPr/>
            <p:nvPr/>
          </p:nvSpPr>
          <p:spPr>
            <a:xfrm flipH="false" flipV="false" rot="0">
              <a:off x="0" y="0"/>
              <a:ext cx="2463384" cy="1307735"/>
            </a:xfrm>
            <a:custGeom>
              <a:avLst/>
              <a:gdLst/>
              <a:ahLst/>
              <a:cxnLst/>
              <a:rect r="r" b="b" t="t" l="l"/>
              <a:pathLst>
                <a:path h="1307735" w="2463384">
                  <a:moveTo>
                    <a:pt x="75906" y="0"/>
                  </a:moveTo>
                  <a:lnTo>
                    <a:pt x="2387478" y="0"/>
                  </a:lnTo>
                  <a:cubicBezTo>
                    <a:pt x="2407609" y="0"/>
                    <a:pt x="2426916" y="7997"/>
                    <a:pt x="2441151" y="22232"/>
                  </a:cubicBezTo>
                  <a:cubicBezTo>
                    <a:pt x="2455387" y="36468"/>
                    <a:pt x="2463384" y="55775"/>
                    <a:pt x="2463384" y="75906"/>
                  </a:cubicBezTo>
                  <a:lnTo>
                    <a:pt x="2463384" y="1231829"/>
                  </a:lnTo>
                  <a:cubicBezTo>
                    <a:pt x="2463384" y="1251961"/>
                    <a:pt x="2455387" y="1271268"/>
                    <a:pt x="2441151" y="1285503"/>
                  </a:cubicBezTo>
                  <a:cubicBezTo>
                    <a:pt x="2426916" y="1299738"/>
                    <a:pt x="2407609" y="1307735"/>
                    <a:pt x="2387478" y="1307735"/>
                  </a:cubicBezTo>
                  <a:lnTo>
                    <a:pt x="75906" y="1307735"/>
                  </a:lnTo>
                  <a:cubicBezTo>
                    <a:pt x="55775" y="1307735"/>
                    <a:pt x="36468" y="1299738"/>
                    <a:pt x="22232" y="1285503"/>
                  </a:cubicBezTo>
                  <a:cubicBezTo>
                    <a:pt x="7997" y="1271268"/>
                    <a:pt x="0" y="1251961"/>
                    <a:pt x="0" y="1231829"/>
                  </a:cubicBezTo>
                  <a:lnTo>
                    <a:pt x="0" y="75906"/>
                  </a:lnTo>
                  <a:cubicBezTo>
                    <a:pt x="0" y="55775"/>
                    <a:pt x="7997" y="36468"/>
                    <a:pt x="22232" y="22232"/>
                  </a:cubicBezTo>
                  <a:cubicBezTo>
                    <a:pt x="36468" y="7997"/>
                    <a:pt x="55775" y="0"/>
                    <a:pt x="75906" y="0"/>
                  </a:cubicBezTo>
                  <a:close/>
                </a:path>
              </a:pathLst>
            </a:custGeom>
            <a:solidFill>
              <a:srgbClr val="140C3D"/>
            </a:solidFill>
          </p:spPr>
        </p:sp>
        <p:sp>
          <p:nvSpPr>
            <p:cNvPr name="TextBox 4" id="4"/>
            <p:cNvSpPr txBox="true"/>
            <p:nvPr/>
          </p:nvSpPr>
          <p:spPr>
            <a:xfrm>
              <a:off x="0" y="-47625"/>
              <a:ext cx="2463384" cy="1355360"/>
            </a:xfrm>
            <a:prstGeom prst="rect">
              <a:avLst/>
            </a:prstGeom>
          </p:spPr>
          <p:txBody>
            <a:bodyPr anchor="ctr" rtlCol="false" tIns="50800" lIns="50800" bIns="50800" rIns="50800"/>
            <a:lstStyle/>
            <a:p>
              <a:pPr algn="ctr">
                <a:lnSpc>
                  <a:spcPts val="3634"/>
                </a:lnSpc>
              </a:pPr>
            </a:p>
          </p:txBody>
        </p:sp>
      </p:grpSp>
      <p:sp>
        <p:nvSpPr>
          <p:cNvPr name="AutoShape 5" id="5"/>
          <p:cNvSpPr/>
          <p:nvPr/>
        </p:nvSpPr>
        <p:spPr>
          <a:xfrm>
            <a:off x="9698353" y="5565294"/>
            <a:ext cx="8589647" cy="0"/>
          </a:xfrm>
          <a:prstGeom prst="line">
            <a:avLst/>
          </a:prstGeom>
          <a:ln cap="flat" w="9525">
            <a:solidFill>
              <a:srgbClr val="F7FBFF">
                <a:alpha val="69804"/>
              </a:srgbClr>
            </a:solidFill>
            <a:prstDash val="solid"/>
            <a:headEnd type="none" len="sm" w="sm"/>
            <a:tailEnd type="none" len="sm" w="sm"/>
          </a:ln>
        </p:spPr>
      </p:sp>
      <p:sp>
        <p:nvSpPr>
          <p:cNvPr name="AutoShape 6" id="6"/>
          <p:cNvSpPr/>
          <p:nvPr/>
        </p:nvSpPr>
        <p:spPr>
          <a:xfrm flipH="true">
            <a:off x="9698353" y="0"/>
            <a:ext cx="0" cy="10287000"/>
          </a:xfrm>
          <a:prstGeom prst="line">
            <a:avLst/>
          </a:prstGeom>
          <a:ln cap="flat" w="9525">
            <a:solidFill>
              <a:srgbClr val="F7FBFF">
                <a:alpha val="69804"/>
              </a:srgbClr>
            </a:solidFill>
            <a:prstDash val="solid"/>
            <a:headEnd type="none" len="sm" w="sm"/>
            <a:tailEnd type="none" len="sm" w="sm"/>
          </a:ln>
        </p:spPr>
      </p:sp>
      <p:sp>
        <p:nvSpPr>
          <p:cNvPr name="Freeform 7" id="7"/>
          <p:cNvSpPr/>
          <p:nvPr/>
        </p:nvSpPr>
        <p:spPr>
          <a:xfrm flipH="false" flipV="false" rot="0">
            <a:off x="3798990" y="6571748"/>
            <a:ext cx="1710355" cy="1892509"/>
          </a:xfrm>
          <a:custGeom>
            <a:avLst/>
            <a:gdLst/>
            <a:ahLst/>
            <a:cxnLst/>
            <a:rect r="r" b="b" t="t" l="l"/>
            <a:pathLst>
              <a:path h="1892509" w="1710355">
                <a:moveTo>
                  <a:pt x="0" y="0"/>
                </a:moveTo>
                <a:lnTo>
                  <a:pt x="1710355" y="0"/>
                </a:lnTo>
                <a:lnTo>
                  <a:pt x="1710355" y="1892509"/>
                </a:lnTo>
                <a:lnTo>
                  <a:pt x="0" y="1892509"/>
                </a:lnTo>
                <a:lnTo>
                  <a:pt x="0" y="0"/>
                </a:lnTo>
                <a:close/>
              </a:path>
            </a:pathLst>
          </a:custGeom>
          <a:blipFill>
            <a:blip r:embed="rId2"/>
            <a:stretch>
              <a:fillRect l="0" t="0" r="0" b="0"/>
            </a:stretch>
          </a:blipFill>
        </p:spPr>
      </p:sp>
      <p:sp>
        <p:nvSpPr>
          <p:cNvPr name="Freeform 8" id="8"/>
          <p:cNvSpPr/>
          <p:nvPr/>
        </p:nvSpPr>
        <p:spPr>
          <a:xfrm flipH="false" flipV="false" rot="0">
            <a:off x="11103291" y="1447349"/>
            <a:ext cx="5903029" cy="2767045"/>
          </a:xfrm>
          <a:custGeom>
            <a:avLst/>
            <a:gdLst/>
            <a:ahLst/>
            <a:cxnLst/>
            <a:rect r="r" b="b" t="t" l="l"/>
            <a:pathLst>
              <a:path h="2767045" w="5903029">
                <a:moveTo>
                  <a:pt x="0" y="0"/>
                </a:moveTo>
                <a:lnTo>
                  <a:pt x="5903029" y="0"/>
                </a:lnTo>
                <a:lnTo>
                  <a:pt x="5903029" y="2767045"/>
                </a:lnTo>
                <a:lnTo>
                  <a:pt x="0" y="2767045"/>
                </a:lnTo>
                <a:lnTo>
                  <a:pt x="0" y="0"/>
                </a:lnTo>
                <a:close/>
              </a:path>
            </a:pathLst>
          </a:custGeom>
          <a:blipFill>
            <a:blip r:embed="rId3"/>
            <a:stretch>
              <a:fillRect l="0" t="0" r="0" b="0"/>
            </a:stretch>
          </a:blipFill>
        </p:spPr>
      </p:sp>
      <p:sp>
        <p:nvSpPr>
          <p:cNvPr name="Freeform 9" id="9"/>
          <p:cNvSpPr/>
          <p:nvPr/>
        </p:nvSpPr>
        <p:spPr>
          <a:xfrm flipH="false" flipV="false" rot="0">
            <a:off x="11672259" y="6294650"/>
            <a:ext cx="4893412" cy="2446706"/>
          </a:xfrm>
          <a:custGeom>
            <a:avLst/>
            <a:gdLst/>
            <a:ahLst/>
            <a:cxnLst/>
            <a:rect r="r" b="b" t="t" l="l"/>
            <a:pathLst>
              <a:path h="2446706" w="4893412">
                <a:moveTo>
                  <a:pt x="0" y="0"/>
                </a:moveTo>
                <a:lnTo>
                  <a:pt x="4893413" y="0"/>
                </a:lnTo>
                <a:lnTo>
                  <a:pt x="4893413" y="2446706"/>
                </a:lnTo>
                <a:lnTo>
                  <a:pt x="0" y="2446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14666" y="1219200"/>
            <a:ext cx="7279003" cy="2380135"/>
          </a:xfrm>
          <a:prstGeom prst="rect">
            <a:avLst/>
          </a:prstGeom>
        </p:spPr>
        <p:txBody>
          <a:bodyPr anchor="t" rtlCol="false" tIns="0" lIns="0" bIns="0" rIns="0">
            <a:spAutoFit/>
          </a:bodyPr>
          <a:lstStyle/>
          <a:p>
            <a:pPr algn="l">
              <a:lnSpc>
                <a:spcPts val="9151"/>
              </a:lnSpc>
            </a:pPr>
            <a:r>
              <a:rPr lang="en-US" sz="9243">
                <a:solidFill>
                  <a:srgbClr val="FFFFFF"/>
                </a:solidFill>
                <a:latin typeface="Inter"/>
                <a:ea typeface="Inter"/>
                <a:cs typeface="Inter"/>
                <a:sym typeface="Inter"/>
              </a:rPr>
              <a:t>LOGO VARIATIONS</a:t>
            </a:r>
          </a:p>
        </p:txBody>
      </p:sp>
      <p:sp>
        <p:nvSpPr>
          <p:cNvPr name="TextBox 11" id="11"/>
          <p:cNvSpPr txBox="true"/>
          <p:nvPr/>
        </p:nvSpPr>
        <p:spPr>
          <a:xfrm rot="0">
            <a:off x="1014412" y="4135019"/>
            <a:ext cx="7279003" cy="656590"/>
          </a:xfrm>
          <a:prstGeom prst="rect">
            <a:avLst/>
          </a:prstGeom>
        </p:spPr>
        <p:txBody>
          <a:bodyPr anchor="t" rtlCol="false" tIns="0" lIns="0" bIns="0" rIns="0">
            <a:spAutoFit/>
          </a:bodyPr>
          <a:lstStyle/>
          <a:p>
            <a:pPr algn="l">
              <a:lnSpc>
                <a:spcPts val="2659"/>
              </a:lnSpc>
            </a:pPr>
            <a:r>
              <a:rPr lang="en-US" sz="1899">
                <a:solidFill>
                  <a:srgbClr val="FFFFFF"/>
                </a:solidFill>
                <a:latin typeface="Inter"/>
                <a:ea typeface="Inter"/>
                <a:cs typeface="Inter"/>
                <a:sym typeface="Inter"/>
              </a:rPr>
              <a:t>Use alternative versions only when suitable and always maintain clear space and proper proportions.</a:t>
            </a:r>
          </a:p>
        </p:txBody>
      </p:sp>
      <p:sp>
        <p:nvSpPr>
          <p:cNvPr name="TextBox 12" id="12"/>
          <p:cNvSpPr txBox="true"/>
          <p:nvPr/>
        </p:nvSpPr>
        <p:spPr>
          <a:xfrm rot="0">
            <a:off x="13048720" y="9102300"/>
            <a:ext cx="2140491" cy="273792"/>
          </a:xfrm>
          <a:prstGeom prst="rect">
            <a:avLst/>
          </a:prstGeom>
        </p:spPr>
        <p:txBody>
          <a:bodyPr anchor="t" rtlCol="false" tIns="0" lIns="0" bIns="0" rIns="0">
            <a:spAutoFit/>
          </a:bodyPr>
          <a:lstStyle/>
          <a:p>
            <a:pPr algn="ctr">
              <a:lnSpc>
                <a:spcPts val="2234"/>
              </a:lnSpc>
            </a:pPr>
            <a:r>
              <a:rPr lang="en-US" sz="1595">
                <a:solidFill>
                  <a:srgbClr val="FFFFFF"/>
                </a:solidFill>
                <a:latin typeface="Inter"/>
                <a:ea typeface="Inter"/>
                <a:cs typeface="Inter"/>
                <a:sym typeface="Inter"/>
              </a:rPr>
              <a:t>WORDMARK</a:t>
            </a:r>
          </a:p>
        </p:txBody>
      </p:sp>
      <p:sp>
        <p:nvSpPr>
          <p:cNvPr name="TextBox 13" id="13"/>
          <p:cNvSpPr txBox="true"/>
          <p:nvPr/>
        </p:nvSpPr>
        <p:spPr>
          <a:xfrm rot="0">
            <a:off x="12873111" y="4326472"/>
            <a:ext cx="3100317"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HORIZONTAL LAYOUT</a:t>
            </a:r>
          </a:p>
        </p:txBody>
      </p:sp>
      <p:sp>
        <p:nvSpPr>
          <p:cNvPr name="TextBox 14" id="14"/>
          <p:cNvSpPr txBox="true"/>
          <p:nvPr/>
        </p:nvSpPr>
        <p:spPr>
          <a:xfrm rot="0">
            <a:off x="2980872" y="9220200"/>
            <a:ext cx="3384184"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ICON</a:t>
            </a:r>
          </a:p>
        </p:txBody>
      </p:sp>
      <p:sp>
        <p:nvSpPr>
          <p:cNvPr name="TextBox 15" id="15"/>
          <p:cNvSpPr txBox="true"/>
          <p:nvPr/>
        </p:nvSpPr>
        <p:spPr>
          <a:xfrm rot="0">
            <a:off x="15825716" y="300154"/>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16" id="16"/>
          <p:cNvSpPr/>
          <p:nvPr/>
        </p:nvSpPr>
        <p:spPr>
          <a:xfrm flipH="false" flipV="false" rot="1646178">
            <a:off x="7499780" y="1101888"/>
            <a:ext cx="437806" cy="492094"/>
          </a:xfrm>
          <a:custGeom>
            <a:avLst/>
            <a:gdLst/>
            <a:ahLst/>
            <a:cxnLst/>
            <a:rect r="r" b="b" t="t" l="l"/>
            <a:pathLst>
              <a:path h="492094" w="437806">
                <a:moveTo>
                  <a:pt x="0" y="0"/>
                </a:moveTo>
                <a:lnTo>
                  <a:pt x="437806" y="0"/>
                </a:lnTo>
                <a:lnTo>
                  <a:pt x="437806" y="492093"/>
                </a:lnTo>
                <a:lnTo>
                  <a:pt x="0" y="4920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469495" y="363198"/>
            <a:ext cx="9613495" cy="5414508"/>
            <a:chOff x="0" y="0"/>
            <a:chExt cx="2321893" cy="1307735"/>
          </a:xfrm>
        </p:grpSpPr>
        <p:sp>
          <p:nvSpPr>
            <p:cNvPr name="Freeform 3" id="3"/>
            <p:cNvSpPr/>
            <p:nvPr/>
          </p:nvSpPr>
          <p:spPr>
            <a:xfrm flipH="false" flipV="false" rot="0">
              <a:off x="0" y="0"/>
              <a:ext cx="2321893" cy="1307735"/>
            </a:xfrm>
            <a:custGeom>
              <a:avLst/>
              <a:gdLst/>
              <a:ahLst/>
              <a:cxnLst/>
              <a:rect r="r" b="b" t="t" l="l"/>
              <a:pathLst>
                <a:path h="1307735" w="2321893">
                  <a:moveTo>
                    <a:pt x="80532" y="0"/>
                  </a:moveTo>
                  <a:lnTo>
                    <a:pt x="2241361" y="0"/>
                  </a:lnTo>
                  <a:cubicBezTo>
                    <a:pt x="2262719" y="0"/>
                    <a:pt x="2283203" y="8485"/>
                    <a:pt x="2298306" y="23587"/>
                  </a:cubicBezTo>
                  <a:cubicBezTo>
                    <a:pt x="2313408" y="38690"/>
                    <a:pt x="2321893" y="59173"/>
                    <a:pt x="2321893" y="80532"/>
                  </a:cubicBezTo>
                  <a:lnTo>
                    <a:pt x="2321893" y="1227203"/>
                  </a:lnTo>
                  <a:cubicBezTo>
                    <a:pt x="2321893" y="1248562"/>
                    <a:pt x="2313408" y="1269045"/>
                    <a:pt x="2298306" y="1284148"/>
                  </a:cubicBezTo>
                  <a:cubicBezTo>
                    <a:pt x="2283203" y="1299251"/>
                    <a:pt x="2262719" y="1307735"/>
                    <a:pt x="2241361" y="1307735"/>
                  </a:cubicBezTo>
                  <a:lnTo>
                    <a:pt x="80532" y="1307735"/>
                  </a:lnTo>
                  <a:cubicBezTo>
                    <a:pt x="59173" y="1307735"/>
                    <a:pt x="38690" y="1299251"/>
                    <a:pt x="23587" y="1284148"/>
                  </a:cubicBezTo>
                  <a:cubicBezTo>
                    <a:pt x="8485" y="1269045"/>
                    <a:pt x="0" y="1248562"/>
                    <a:pt x="0" y="1227203"/>
                  </a:cubicBezTo>
                  <a:lnTo>
                    <a:pt x="0" y="80532"/>
                  </a:lnTo>
                  <a:cubicBezTo>
                    <a:pt x="0" y="59173"/>
                    <a:pt x="8485" y="38690"/>
                    <a:pt x="23587" y="23587"/>
                  </a:cubicBezTo>
                  <a:cubicBezTo>
                    <a:pt x="38690" y="8485"/>
                    <a:pt x="59173" y="0"/>
                    <a:pt x="80532" y="0"/>
                  </a:cubicBezTo>
                  <a:close/>
                </a:path>
              </a:pathLst>
            </a:custGeom>
            <a:solidFill>
              <a:srgbClr val="140C3D"/>
            </a:solidFill>
          </p:spPr>
        </p:sp>
        <p:sp>
          <p:nvSpPr>
            <p:cNvPr name="TextBox 4" id="4"/>
            <p:cNvSpPr txBox="true"/>
            <p:nvPr/>
          </p:nvSpPr>
          <p:spPr>
            <a:xfrm>
              <a:off x="0" y="-47625"/>
              <a:ext cx="2321893" cy="1355360"/>
            </a:xfrm>
            <a:prstGeom prst="rect">
              <a:avLst/>
            </a:prstGeom>
          </p:spPr>
          <p:txBody>
            <a:bodyPr anchor="ctr" rtlCol="false" tIns="50800" lIns="50800" bIns="50800" rIns="50800"/>
            <a:lstStyle/>
            <a:p>
              <a:pPr algn="ctr">
                <a:lnSpc>
                  <a:spcPts val="3634"/>
                </a:lnSpc>
              </a:pPr>
            </a:p>
          </p:txBody>
        </p:sp>
      </p:grpSp>
      <p:sp>
        <p:nvSpPr>
          <p:cNvPr name="AutoShape 5" id="5"/>
          <p:cNvSpPr/>
          <p:nvPr/>
        </p:nvSpPr>
        <p:spPr>
          <a:xfrm>
            <a:off x="9698353" y="5565294"/>
            <a:ext cx="8589647" cy="0"/>
          </a:xfrm>
          <a:prstGeom prst="line">
            <a:avLst/>
          </a:prstGeom>
          <a:ln cap="flat" w="9525">
            <a:solidFill>
              <a:srgbClr val="F7FBFF">
                <a:alpha val="69804"/>
              </a:srgbClr>
            </a:solidFill>
            <a:prstDash val="solid"/>
            <a:headEnd type="none" len="sm" w="sm"/>
            <a:tailEnd type="none" len="sm" w="sm"/>
          </a:ln>
        </p:spPr>
      </p:sp>
      <p:sp>
        <p:nvSpPr>
          <p:cNvPr name="AutoShape 6" id="6"/>
          <p:cNvSpPr/>
          <p:nvPr/>
        </p:nvSpPr>
        <p:spPr>
          <a:xfrm flipH="true">
            <a:off x="9698353" y="0"/>
            <a:ext cx="0" cy="10287000"/>
          </a:xfrm>
          <a:prstGeom prst="line">
            <a:avLst/>
          </a:prstGeom>
          <a:ln cap="flat" w="9525">
            <a:solidFill>
              <a:srgbClr val="F7FBFF">
                <a:alpha val="69804"/>
              </a:srgbClr>
            </a:solidFill>
            <a:prstDash val="solid"/>
            <a:headEnd type="none" len="sm" w="sm"/>
            <a:tailEnd type="none" len="sm" w="sm"/>
          </a:ln>
        </p:spPr>
      </p:sp>
      <p:sp>
        <p:nvSpPr>
          <p:cNvPr name="Freeform 7" id="7"/>
          <p:cNvSpPr/>
          <p:nvPr/>
        </p:nvSpPr>
        <p:spPr>
          <a:xfrm flipH="false" flipV="false" rot="0">
            <a:off x="2755806" y="7079584"/>
            <a:ext cx="1515472" cy="1856815"/>
          </a:xfrm>
          <a:custGeom>
            <a:avLst/>
            <a:gdLst/>
            <a:ahLst/>
            <a:cxnLst/>
            <a:rect r="r" b="b" t="t" l="l"/>
            <a:pathLst>
              <a:path h="1856815" w="1515472">
                <a:moveTo>
                  <a:pt x="0" y="0"/>
                </a:moveTo>
                <a:lnTo>
                  <a:pt x="1515472" y="0"/>
                </a:lnTo>
                <a:lnTo>
                  <a:pt x="1515472" y="1856815"/>
                </a:lnTo>
                <a:lnTo>
                  <a:pt x="0" y="1856815"/>
                </a:lnTo>
                <a:lnTo>
                  <a:pt x="0" y="0"/>
                </a:lnTo>
                <a:close/>
              </a:path>
            </a:pathLst>
          </a:custGeom>
          <a:blipFill>
            <a:blip r:embed="rId2"/>
            <a:stretch>
              <a:fillRect l="-134055" t="-25240" r="-130962" b="-23717"/>
            </a:stretch>
          </a:blipFill>
        </p:spPr>
      </p:sp>
      <p:sp>
        <p:nvSpPr>
          <p:cNvPr name="Freeform 8" id="8"/>
          <p:cNvSpPr/>
          <p:nvPr/>
        </p:nvSpPr>
        <p:spPr>
          <a:xfrm flipH="false" flipV="false" rot="0">
            <a:off x="10241134" y="2169776"/>
            <a:ext cx="3806225" cy="1263324"/>
          </a:xfrm>
          <a:custGeom>
            <a:avLst/>
            <a:gdLst/>
            <a:ahLst/>
            <a:cxnLst/>
            <a:rect r="r" b="b" t="t" l="l"/>
            <a:pathLst>
              <a:path h="1263324" w="3806225">
                <a:moveTo>
                  <a:pt x="0" y="0"/>
                </a:moveTo>
                <a:lnTo>
                  <a:pt x="3806225" y="0"/>
                </a:lnTo>
                <a:lnTo>
                  <a:pt x="3806225" y="1263324"/>
                </a:lnTo>
                <a:lnTo>
                  <a:pt x="0" y="1263324"/>
                </a:lnTo>
                <a:lnTo>
                  <a:pt x="0" y="0"/>
                </a:lnTo>
                <a:close/>
              </a:path>
            </a:pathLst>
          </a:custGeom>
          <a:blipFill>
            <a:blip r:embed="rId3"/>
            <a:stretch>
              <a:fillRect l="-12475" t="-50984" r="-16955" b="-43993"/>
            </a:stretch>
          </a:blipFill>
        </p:spPr>
      </p:sp>
      <p:grpSp>
        <p:nvGrpSpPr>
          <p:cNvPr name="Group 9" id="9"/>
          <p:cNvGrpSpPr/>
          <p:nvPr/>
        </p:nvGrpSpPr>
        <p:grpSpPr>
          <a:xfrm rot="0">
            <a:off x="5186584" y="7365382"/>
            <a:ext cx="1365438" cy="1285219"/>
            <a:chOff x="0" y="0"/>
            <a:chExt cx="1820584" cy="1713625"/>
          </a:xfrm>
        </p:grpSpPr>
        <p:sp>
          <p:nvSpPr>
            <p:cNvPr name="Freeform 10" id="10"/>
            <p:cNvSpPr/>
            <p:nvPr/>
          </p:nvSpPr>
          <p:spPr>
            <a:xfrm flipH="false" flipV="false" rot="0">
              <a:off x="0" y="0"/>
              <a:ext cx="1820584" cy="1713625"/>
            </a:xfrm>
            <a:custGeom>
              <a:avLst/>
              <a:gdLst/>
              <a:ahLst/>
              <a:cxnLst/>
              <a:rect r="r" b="b" t="t" l="l"/>
              <a:pathLst>
                <a:path h="1713625" w="1820584">
                  <a:moveTo>
                    <a:pt x="0" y="0"/>
                  </a:moveTo>
                  <a:lnTo>
                    <a:pt x="1820584" y="0"/>
                  </a:lnTo>
                  <a:lnTo>
                    <a:pt x="1820584" y="1713625"/>
                  </a:lnTo>
                  <a:lnTo>
                    <a:pt x="0" y="1713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50355" y="212916"/>
              <a:ext cx="1087012" cy="1244147"/>
            </a:xfrm>
            <a:custGeom>
              <a:avLst/>
              <a:gdLst/>
              <a:ahLst/>
              <a:cxnLst/>
              <a:rect r="r" b="b" t="t" l="l"/>
              <a:pathLst>
                <a:path h="1244147" w="1087012">
                  <a:moveTo>
                    <a:pt x="0" y="0"/>
                  </a:moveTo>
                  <a:lnTo>
                    <a:pt x="1087011" y="0"/>
                  </a:lnTo>
                  <a:lnTo>
                    <a:pt x="1087011" y="1244147"/>
                  </a:lnTo>
                  <a:lnTo>
                    <a:pt x="0" y="1244147"/>
                  </a:lnTo>
                  <a:lnTo>
                    <a:pt x="0" y="0"/>
                  </a:lnTo>
                  <a:close/>
                </a:path>
              </a:pathLst>
            </a:custGeom>
            <a:blipFill>
              <a:blip r:embed="rId6"/>
              <a:stretch>
                <a:fillRect l="-148503" t="-33378" r="-153596" b="-42279"/>
              </a:stretch>
            </a:blipFill>
          </p:spPr>
        </p:sp>
      </p:grpSp>
      <p:grpSp>
        <p:nvGrpSpPr>
          <p:cNvPr name="Group 12" id="12"/>
          <p:cNvGrpSpPr/>
          <p:nvPr/>
        </p:nvGrpSpPr>
        <p:grpSpPr>
          <a:xfrm rot="0">
            <a:off x="14389027" y="2018565"/>
            <a:ext cx="3441203" cy="1565747"/>
            <a:chOff x="0" y="0"/>
            <a:chExt cx="4588271" cy="2087663"/>
          </a:xfrm>
        </p:grpSpPr>
        <p:sp>
          <p:nvSpPr>
            <p:cNvPr name="Freeform 13" id="13"/>
            <p:cNvSpPr/>
            <p:nvPr/>
          </p:nvSpPr>
          <p:spPr>
            <a:xfrm flipH="false" flipV="false" rot="0">
              <a:off x="0" y="0"/>
              <a:ext cx="4588271" cy="2087663"/>
            </a:xfrm>
            <a:custGeom>
              <a:avLst/>
              <a:gdLst/>
              <a:ahLst/>
              <a:cxnLst/>
              <a:rect r="r" b="b" t="t" l="l"/>
              <a:pathLst>
                <a:path h="2087663" w="4588271">
                  <a:moveTo>
                    <a:pt x="0" y="0"/>
                  </a:moveTo>
                  <a:lnTo>
                    <a:pt x="4588271" y="0"/>
                  </a:lnTo>
                  <a:lnTo>
                    <a:pt x="4588271" y="2087663"/>
                  </a:lnTo>
                  <a:lnTo>
                    <a:pt x="0" y="20876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536569" y="393090"/>
              <a:ext cx="3411667" cy="1239304"/>
            </a:xfrm>
            <a:custGeom>
              <a:avLst/>
              <a:gdLst/>
              <a:ahLst/>
              <a:cxnLst/>
              <a:rect r="r" b="b" t="t" l="l"/>
              <a:pathLst>
                <a:path h="1239304" w="3411667">
                  <a:moveTo>
                    <a:pt x="0" y="0"/>
                  </a:moveTo>
                  <a:lnTo>
                    <a:pt x="3411667" y="0"/>
                  </a:lnTo>
                  <a:lnTo>
                    <a:pt x="3411667" y="1239304"/>
                  </a:lnTo>
                  <a:lnTo>
                    <a:pt x="0" y="1239304"/>
                  </a:lnTo>
                  <a:lnTo>
                    <a:pt x="0" y="0"/>
                  </a:lnTo>
                  <a:close/>
                </a:path>
              </a:pathLst>
            </a:custGeom>
            <a:blipFill>
              <a:blip r:embed="rId9"/>
              <a:stretch>
                <a:fillRect l="-27451" t="-62193" r="-26587" b="-50008"/>
              </a:stretch>
            </a:blipFill>
          </p:spPr>
        </p:sp>
      </p:grpSp>
      <p:sp>
        <p:nvSpPr>
          <p:cNvPr name="TextBox 15" id="15"/>
          <p:cNvSpPr txBox="true"/>
          <p:nvPr/>
        </p:nvSpPr>
        <p:spPr>
          <a:xfrm rot="0">
            <a:off x="1014412" y="1609274"/>
            <a:ext cx="7279003" cy="1925232"/>
          </a:xfrm>
          <a:prstGeom prst="rect">
            <a:avLst/>
          </a:prstGeom>
        </p:spPr>
        <p:txBody>
          <a:bodyPr anchor="t" rtlCol="false" tIns="0" lIns="0" bIns="0" rIns="0">
            <a:spAutoFit/>
          </a:bodyPr>
          <a:lstStyle/>
          <a:p>
            <a:pPr algn="l">
              <a:lnSpc>
                <a:spcPts val="7468"/>
              </a:lnSpc>
            </a:pPr>
            <a:r>
              <a:rPr lang="en-US" sz="7544">
                <a:solidFill>
                  <a:srgbClr val="FFFFFF"/>
                </a:solidFill>
                <a:latin typeface="Inter"/>
                <a:ea typeface="Inter"/>
                <a:cs typeface="Inter"/>
                <a:sym typeface="Inter"/>
              </a:rPr>
              <a:t>LOGO MONOCHR</a:t>
            </a:r>
            <a:r>
              <a:rPr lang="en-US" sz="7544">
                <a:solidFill>
                  <a:srgbClr val="B9C85A"/>
                </a:solidFill>
                <a:latin typeface="Inter"/>
                <a:ea typeface="Inter"/>
                <a:cs typeface="Inter"/>
                <a:sym typeface="Inter"/>
              </a:rPr>
              <a:t>O</a:t>
            </a:r>
            <a:r>
              <a:rPr lang="en-US" sz="7544">
                <a:solidFill>
                  <a:srgbClr val="FFFFFF"/>
                </a:solidFill>
                <a:latin typeface="Inter"/>
                <a:ea typeface="Inter"/>
                <a:cs typeface="Inter"/>
                <a:sym typeface="Inter"/>
              </a:rPr>
              <a:t>ME</a:t>
            </a:r>
          </a:p>
        </p:txBody>
      </p:sp>
      <p:sp>
        <p:nvSpPr>
          <p:cNvPr name="TextBox 16" id="16"/>
          <p:cNvSpPr txBox="true"/>
          <p:nvPr/>
        </p:nvSpPr>
        <p:spPr>
          <a:xfrm rot="0">
            <a:off x="1014412" y="4135019"/>
            <a:ext cx="7279003" cy="656590"/>
          </a:xfrm>
          <a:prstGeom prst="rect">
            <a:avLst/>
          </a:prstGeom>
        </p:spPr>
        <p:txBody>
          <a:bodyPr anchor="t" rtlCol="false" tIns="0" lIns="0" bIns="0" rIns="0">
            <a:spAutoFit/>
          </a:bodyPr>
          <a:lstStyle/>
          <a:p>
            <a:pPr algn="l">
              <a:lnSpc>
                <a:spcPts val="2659"/>
              </a:lnSpc>
            </a:pPr>
            <a:r>
              <a:rPr lang="en-US" sz="1899">
                <a:solidFill>
                  <a:srgbClr val="FFFFFF"/>
                </a:solidFill>
                <a:latin typeface="Inter"/>
                <a:ea typeface="Inter"/>
                <a:cs typeface="Inter"/>
                <a:sym typeface="Inter"/>
              </a:rPr>
              <a:t>Use monochrome versions only when suitable and always maintain clear space and proper proportions.</a:t>
            </a:r>
          </a:p>
        </p:txBody>
      </p:sp>
      <p:sp>
        <p:nvSpPr>
          <p:cNvPr name="TextBox 17" id="17"/>
          <p:cNvSpPr txBox="true"/>
          <p:nvPr/>
        </p:nvSpPr>
        <p:spPr>
          <a:xfrm rot="0">
            <a:off x="13122431" y="9476487"/>
            <a:ext cx="2140491" cy="273792"/>
          </a:xfrm>
          <a:prstGeom prst="rect">
            <a:avLst/>
          </a:prstGeom>
        </p:spPr>
        <p:txBody>
          <a:bodyPr anchor="t" rtlCol="false" tIns="0" lIns="0" bIns="0" rIns="0">
            <a:spAutoFit/>
          </a:bodyPr>
          <a:lstStyle/>
          <a:p>
            <a:pPr algn="ctr">
              <a:lnSpc>
                <a:spcPts val="2234"/>
              </a:lnSpc>
            </a:pPr>
            <a:r>
              <a:rPr lang="en-US" sz="1595">
                <a:solidFill>
                  <a:srgbClr val="FFFFFF"/>
                </a:solidFill>
                <a:latin typeface="Inter"/>
                <a:ea typeface="Inter"/>
                <a:cs typeface="Inter"/>
                <a:sym typeface="Inter"/>
              </a:rPr>
              <a:t>WORDMARK</a:t>
            </a:r>
          </a:p>
        </p:txBody>
      </p:sp>
      <p:sp>
        <p:nvSpPr>
          <p:cNvPr name="TextBox 18" id="18"/>
          <p:cNvSpPr txBox="true"/>
          <p:nvPr/>
        </p:nvSpPr>
        <p:spPr>
          <a:xfrm rot="0">
            <a:off x="12642518" y="4753509"/>
            <a:ext cx="3100317"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HORIZONTAL LAYOUT</a:t>
            </a:r>
          </a:p>
        </p:txBody>
      </p:sp>
      <p:sp>
        <p:nvSpPr>
          <p:cNvPr name="TextBox 19" id="19"/>
          <p:cNvSpPr txBox="true"/>
          <p:nvPr/>
        </p:nvSpPr>
        <p:spPr>
          <a:xfrm rot="0">
            <a:off x="2961822" y="9536474"/>
            <a:ext cx="3384184"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ICON</a:t>
            </a:r>
          </a:p>
        </p:txBody>
      </p:sp>
      <p:sp>
        <p:nvSpPr>
          <p:cNvPr name="TextBox 20" id="20"/>
          <p:cNvSpPr txBox="true"/>
          <p:nvPr/>
        </p:nvSpPr>
        <p:spPr>
          <a:xfrm rot="0">
            <a:off x="15825716" y="300154"/>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21" id="21"/>
          <p:cNvSpPr/>
          <p:nvPr/>
        </p:nvSpPr>
        <p:spPr>
          <a:xfrm flipH="false" flipV="false" rot="0">
            <a:off x="10850393" y="7205081"/>
            <a:ext cx="2658007" cy="802911"/>
          </a:xfrm>
          <a:custGeom>
            <a:avLst/>
            <a:gdLst/>
            <a:ahLst/>
            <a:cxnLst/>
            <a:rect r="r" b="b" t="t" l="l"/>
            <a:pathLst>
              <a:path h="802911" w="2658007">
                <a:moveTo>
                  <a:pt x="0" y="0"/>
                </a:moveTo>
                <a:lnTo>
                  <a:pt x="2658007" y="0"/>
                </a:lnTo>
                <a:lnTo>
                  <a:pt x="2658007" y="802910"/>
                </a:lnTo>
                <a:lnTo>
                  <a:pt x="0" y="802910"/>
                </a:lnTo>
                <a:lnTo>
                  <a:pt x="0" y="0"/>
                </a:lnTo>
                <a:close/>
              </a:path>
            </a:pathLst>
          </a:custGeom>
          <a:blipFill>
            <a:blip r:embed="rId10"/>
            <a:stretch>
              <a:fillRect l="-22921" t="-73836" r="-20276" b="-63189"/>
            </a:stretch>
          </a:blipFill>
        </p:spPr>
      </p:sp>
      <p:grpSp>
        <p:nvGrpSpPr>
          <p:cNvPr name="Group 22" id="22"/>
          <p:cNvGrpSpPr/>
          <p:nvPr/>
        </p:nvGrpSpPr>
        <p:grpSpPr>
          <a:xfrm rot="0">
            <a:off x="14514470" y="6822675"/>
            <a:ext cx="3257662" cy="1482236"/>
            <a:chOff x="0" y="0"/>
            <a:chExt cx="4343549" cy="1976315"/>
          </a:xfrm>
        </p:grpSpPr>
        <p:sp>
          <p:nvSpPr>
            <p:cNvPr name="Freeform 23" id="23"/>
            <p:cNvSpPr/>
            <p:nvPr/>
          </p:nvSpPr>
          <p:spPr>
            <a:xfrm flipH="false" flipV="false" rot="0">
              <a:off x="0" y="0"/>
              <a:ext cx="4343549" cy="1976315"/>
            </a:xfrm>
            <a:custGeom>
              <a:avLst/>
              <a:gdLst/>
              <a:ahLst/>
              <a:cxnLst/>
              <a:rect r="r" b="b" t="t" l="l"/>
              <a:pathLst>
                <a:path h="1976315" w="4343549">
                  <a:moveTo>
                    <a:pt x="0" y="0"/>
                  </a:moveTo>
                  <a:lnTo>
                    <a:pt x="4343549" y="0"/>
                  </a:lnTo>
                  <a:lnTo>
                    <a:pt x="4343549" y="1976315"/>
                  </a:lnTo>
                  <a:lnTo>
                    <a:pt x="0" y="19763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525416" y="22607"/>
              <a:ext cx="3292717" cy="1712028"/>
            </a:xfrm>
            <a:custGeom>
              <a:avLst/>
              <a:gdLst/>
              <a:ahLst/>
              <a:cxnLst/>
              <a:rect r="r" b="b" t="t" l="l"/>
              <a:pathLst>
                <a:path h="1712028" w="3292717">
                  <a:moveTo>
                    <a:pt x="0" y="0"/>
                  </a:moveTo>
                  <a:lnTo>
                    <a:pt x="3292717" y="0"/>
                  </a:lnTo>
                  <a:lnTo>
                    <a:pt x="3292717" y="1712028"/>
                  </a:lnTo>
                  <a:lnTo>
                    <a:pt x="0" y="1712028"/>
                  </a:lnTo>
                  <a:lnTo>
                    <a:pt x="0" y="0"/>
                  </a:lnTo>
                  <a:close/>
                </a:path>
              </a:pathLst>
            </a:custGeom>
            <a:blipFill>
              <a:blip r:embed="rId11"/>
              <a:stretch>
                <a:fillRect l="-23416" t="-18822" r="-19718" b="-18822"/>
              </a:stretch>
            </a:blipFill>
          </p:spPr>
        </p:sp>
      </p:grpSp>
      <p:sp>
        <p:nvSpPr>
          <p:cNvPr name="Freeform 25" id="25"/>
          <p:cNvSpPr/>
          <p:nvPr/>
        </p:nvSpPr>
        <p:spPr>
          <a:xfrm flipH="false" flipV="false" rot="1646178">
            <a:off x="8074513" y="782653"/>
            <a:ext cx="437806" cy="492094"/>
          </a:xfrm>
          <a:custGeom>
            <a:avLst/>
            <a:gdLst/>
            <a:ahLst/>
            <a:cxnLst/>
            <a:rect r="r" b="b" t="t" l="l"/>
            <a:pathLst>
              <a:path h="492094" w="437806">
                <a:moveTo>
                  <a:pt x="0" y="0"/>
                </a:moveTo>
                <a:lnTo>
                  <a:pt x="437806" y="0"/>
                </a:lnTo>
                <a:lnTo>
                  <a:pt x="437806" y="492094"/>
                </a:lnTo>
                <a:lnTo>
                  <a:pt x="0" y="4920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710436" y="514350"/>
            <a:ext cx="9596673" cy="9258300"/>
            <a:chOff x="0" y="0"/>
            <a:chExt cx="2317830" cy="2236104"/>
          </a:xfrm>
        </p:grpSpPr>
        <p:sp>
          <p:nvSpPr>
            <p:cNvPr name="Freeform 3" id="3"/>
            <p:cNvSpPr/>
            <p:nvPr/>
          </p:nvSpPr>
          <p:spPr>
            <a:xfrm flipH="false" flipV="false" rot="0">
              <a:off x="0" y="0"/>
              <a:ext cx="2317830" cy="2236104"/>
            </a:xfrm>
            <a:custGeom>
              <a:avLst/>
              <a:gdLst/>
              <a:ahLst/>
              <a:cxnLst/>
              <a:rect r="r" b="b" t="t" l="l"/>
              <a:pathLst>
                <a:path h="2236104" w="2317830">
                  <a:moveTo>
                    <a:pt x="80673" y="0"/>
                  </a:moveTo>
                  <a:lnTo>
                    <a:pt x="2237157" y="0"/>
                  </a:lnTo>
                  <a:cubicBezTo>
                    <a:pt x="2281711" y="0"/>
                    <a:pt x="2317830" y="36119"/>
                    <a:pt x="2317830" y="80673"/>
                  </a:cubicBezTo>
                  <a:lnTo>
                    <a:pt x="2317830" y="2155431"/>
                  </a:lnTo>
                  <a:cubicBezTo>
                    <a:pt x="2317830" y="2176827"/>
                    <a:pt x="2309330" y="2197347"/>
                    <a:pt x="2294201" y="2212476"/>
                  </a:cubicBezTo>
                  <a:cubicBezTo>
                    <a:pt x="2279072" y="2227605"/>
                    <a:pt x="2258553" y="2236104"/>
                    <a:pt x="2237157" y="2236104"/>
                  </a:cubicBezTo>
                  <a:lnTo>
                    <a:pt x="80673" y="2236104"/>
                  </a:lnTo>
                  <a:cubicBezTo>
                    <a:pt x="36119" y="2236104"/>
                    <a:pt x="0" y="2199986"/>
                    <a:pt x="0" y="2155431"/>
                  </a:cubicBezTo>
                  <a:lnTo>
                    <a:pt x="0" y="80673"/>
                  </a:lnTo>
                  <a:cubicBezTo>
                    <a:pt x="0" y="36119"/>
                    <a:pt x="36119" y="0"/>
                    <a:pt x="80673" y="0"/>
                  </a:cubicBezTo>
                  <a:close/>
                </a:path>
              </a:pathLst>
            </a:custGeom>
            <a:solidFill>
              <a:srgbClr val="140C3D"/>
            </a:solidFill>
          </p:spPr>
        </p:sp>
        <p:sp>
          <p:nvSpPr>
            <p:cNvPr name="TextBox 4" id="4"/>
            <p:cNvSpPr txBox="true"/>
            <p:nvPr/>
          </p:nvSpPr>
          <p:spPr>
            <a:xfrm>
              <a:off x="0" y="-47625"/>
              <a:ext cx="2317830" cy="2283729"/>
            </a:xfrm>
            <a:prstGeom prst="rect">
              <a:avLst/>
            </a:prstGeom>
          </p:spPr>
          <p:txBody>
            <a:bodyPr anchor="ctr" rtlCol="false" tIns="50800" lIns="50800" bIns="50800" rIns="50800"/>
            <a:lstStyle/>
            <a:p>
              <a:pPr algn="ctr">
                <a:lnSpc>
                  <a:spcPts val="3634"/>
                </a:lnSpc>
              </a:pPr>
            </a:p>
          </p:txBody>
        </p:sp>
      </p:grpSp>
      <p:sp>
        <p:nvSpPr>
          <p:cNvPr name="Freeform 5" id="5"/>
          <p:cNvSpPr/>
          <p:nvPr/>
        </p:nvSpPr>
        <p:spPr>
          <a:xfrm flipH="false" flipV="false" rot="-619625">
            <a:off x="5664500" y="4547662"/>
            <a:ext cx="1378427" cy="1403954"/>
          </a:xfrm>
          <a:custGeom>
            <a:avLst/>
            <a:gdLst/>
            <a:ahLst/>
            <a:cxnLst/>
            <a:rect r="r" b="b" t="t" l="l"/>
            <a:pathLst>
              <a:path h="1403954" w="1378427">
                <a:moveTo>
                  <a:pt x="0" y="0"/>
                </a:moveTo>
                <a:lnTo>
                  <a:pt x="1378427" y="0"/>
                </a:lnTo>
                <a:lnTo>
                  <a:pt x="1378427" y="1403954"/>
                </a:lnTo>
                <a:lnTo>
                  <a:pt x="0" y="14039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511863" y="4533617"/>
            <a:ext cx="2319156" cy="2566148"/>
          </a:xfrm>
          <a:custGeom>
            <a:avLst/>
            <a:gdLst/>
            <a:ahLst/>
            <a:cxnLst/>
            <a:rect r="r" b="b" t="t" l="l"/>
            <a:pathLst>
              <a:path h="2566148" w="2319156">
                <a:moveTo>
                  <a:pt x="0" y="0"/>
                </a:moveTo>
                <a:lnTo>
                  <a:pt x="2319156" y="0"/>
                </a:lnTo>
                <a:lnTo>
                  <a:pt x="2319156" y="2566148"/>
                </a:lnTo>
                <a:lnTo>
                  <a:pt x="0" y="2566148"/>
                </a:lnTo>
                <a:lnTo>
                  <a:pt x="0" y="0"/>
                </a:lnTo>
                <a:close/>
              </a:path>
            </a:pathLst>
          </a:custGeom>
          <a:blipFill>
            <a:blip r:embed="rId4"/>
            <a:stretch>
              <a:fillRect l="0" t="0" r="0" b="0"/>
            </a:stretch>
          </a:blipFill>
        </p:spPr>
      </p:sp>
      <p:sp>
        <p:nvSpPr>
          <p:cNvPr name="Freeform 7" id="7"/>
          <p:cNvSpPr/>
          <p:nvPr/>
        </p:nvSpPr>
        <p:spPr>
          <a:xfrm flipH="false" flipV="false" rot="8748734">
            <a:off x="1579710" y="4630649"/>
            <a:ext cx="2828662" cy="2881045"/>
          </a:xfrm>
          <a:custGeom>
            <a:avLst/>
            <a:gdLst/>
            <a:ahLst/>
            <a:cxnLst/>
            <a:rect r="r" b="b" t="t" l="l"/>
            <a:pathLst>
              <a:path h="2881045" w="2828662">
                <a:moveTo>
                  <a:pt x="0" y="0"/>
                </a:moveTo>
                <a:lnTo>
                  <a:pt x="2828662" y="0"/>
                </a:lnTo>
                <a:lnTo>
                  <a:pt x="2828662" y="2881045"/>
                </a:lnTo>
                <a:lnTo>
                  <a:pt x="0" y="2881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4739233" y="1609583"/>
            <a:ext cx="2520067" cy="704435"/>
            <a:chOff x="0" y="0"/>
            <a:chExt cx="3360089" cy="939246"/>
          </a:xfrm>
        </p:grpSpPr>
        <p:sp>
          <p:nvSpPr>
            <p:cNvPr name="Freeform 9" id="9"/>
            <p:cNvSpPr/>
            <p:nvPr/>
          </p:nvSpPr>
          <p:spPr>
            <a:xfrm flipH="false" flipV="false" rot="0">
              <a:off x="0" y="0"/>
              <a:ext cx="817144" cy="939246"/>
            </a:xfrm>
            <a:custGeom>
              <a:avLst/>
              <a:gdLst/>
              <a:ahLst/>
              <a:cxnLst/>
              <a:rect r="r" b="b" t="t" l="l"/>
              <a:pathLst>
                <a:path h="939246" w="817144">
                  <a:moveTo>
                    <a:pt x="0" y="0"/>
                  </a:moveTo>
                  <a:lnTo>
                    <a:pt x="817144" y="0"/>
                  </a:lnTo>
                  <a:lnTo>
                    <a:pt x="817144" y="939246"/>
                  </a:lnTo>
                  <a:lnTo>
                    <a:pt x="0" y="9392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394404" y="201649"/>
              <a:ext cx="535948" cy="535948"/>
            </a:xfrm>
            <a:custGeom>
              <a:avLst/>
              <a:gdLst/>
              <a:ahLst/>
              <a:cxnLst/>
              <a:rect r="r" b="b" t="t" l="l"/>
              <a:pathLst>
                <a:path h="535948" w="535948">
                  <a:moveTo>
                    <a:pt x="0" y="0"/>
                  </a:moveTo>
                  <a:lnTo>
                    <a:pt x="535949" y="0"/>
                  </a:lnTo>
                  <a:lnTo>
                    <a:pt x="535949" y="535948"/>
                  </a:lnTo>
                  <a:lnTo>
                    <a:pt x="0" y="5359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2501853" y="0"/>
              <a:ext cx="858236" cy="939246"/>
            </a:xfrm>
            <a:custGeom>
              <a:avLst/>
              <a:gdLst/>
              <a:ahLst/>
              <a:cxnLst/>
              <a:rect r="r" b="b" t="t" l="l"/>
              <a:pathLst>
                <a:path h="939246" w="858236">
                  <a:moveTo>
                    <a:pt x="0" y="0"/>
                  </a:moveTo>
                  <a:lnTo>
                    <a:pt x="858236" y="0"/>
                  </a:lnTo>
                  <a:lnTo>
                    <a:pt x="858236" y="939246"/>
                  </a:lnTo>
                  <a:lnTo>
                    <a:pt x="0" y="9392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TextBox 12" id="12"/>
          <p:cNvSpPr txBox="true"/>
          <p:nvPr/>
        </p:nvSpPr>
        <p:spPr>
          <a:xfrm rot="0">
            <a:off x="11033957" y="3149694"/>
            <a:ext cx="6225343" cy="4104641"/>
          </a:xfrm>
          <a:prstGeom prst="rect">
            <a:avLst/>
          </a:prstGeom>
        </p:spPr>
        <p:txBody>
          <a:bodyPr anchor="t" rtlCol="false" tIns="0" lIns="0" bIns="0" rIns="0">
            <a:spAutoFit/>
          </a:bodyPr>
          <a:lstStyle/>
          <a:p>
            <a:pPr algn="r">
              <a:lnSpc>
                <a:spcPts val="4159"/>
              </a:lnSpc>
            </a:pPr>
            <a:r>
              <a:rPr lang="en-US" sz="2599">
                <a:solidFill>
                  <a:srgbClr val="FFFFFF"/>
                </a:solidFill>
                <a:latin typeface="Inter Light"/>
                <a:ea typeface="Inter Light"/>
                <a:cs typeface="Inter Light"/>
                <a:sym typeface="Inter Light"/>
              </a:rPr>
              <a:t>CavBot’s logo pairs a circular “C-eye” symbol with a calm sans-serif wordmark.</a:t>
            </a:r>
          </a:p>
          <a:p>
            <a:pPr algn="r">
              <a:lnSpc>
                <a:spcPts val="4159"/>
              </a:lnSpc>
            </a:pPr>
            <a:r>
              <a:rPr lang="en-US" sz="2599">
                <a:solidFill>
                  <a:srgbClr val="FFFFFF"/>
                </a:solidFill>
                <a:latin typeface="Inter Light"/>
                <a:ea typeface="Inter Light"/>
                <a:cs typeface="Inter Light"/>
                <a:sym typeface="Inter Light"/>
              </a:rPr>
              <a:t>The broken outer C represents a control ring watching over routes and systems.</a:t>
            </a:r>
          </a:p>
          <a:p>
            <a:pPr algn="r" marL="0" indent="0" lvl="1">
              <a:lnSpc>
                <a:spcPts val="4159"/>
              </a:lnSpc>
              <a:spcBef>
                <a:spcPct val="0"/>
              </a:spcBef>
            </a:pPr>
            <a:r>
              <a:rPr lang="en-US" sz="2599">
                <a:solidFill>
                  <a:srgbClr val="FFFFFF"/>
                </a:solidFill>
                <a:latin typeface="Inter Light"/>
                <a:ea typeface="Inter Light"/>
                <a:cs typeface="Inter Light"/>
                <a:sym typeface="Inter Light"/>
              </a:rPr>
              <a:t>The centered inner circle is the sensor/brain at the core, expressing quiet, precise reliability.</a:t>
            </a:r>
          </a:p>
          <a:p>
            <a:pPr algn="r">
              <a:lnSpc>
                <a:spcPts val="3679"/>
              </a:lnSpc>
              <a:spcBef>
                <a:spcPct val="0"/>
              </a:spcBef>
            </a:pPr>
          </a:p>
        </p:txBody>
      </p:sp>
      <p:sp>
        <p:nvSpPr>
          <p:cNvPr name="TextBox 13" id="13"/>
          <p:cNvSpPr txBox="true"/>
          <p:nvPr/>
        </p:nvSpPr>
        <p:spPr>
          <a:xfrm rot="0">
            <a:off x="1590233" y="8745855"/>
            <a:ext cx="6546693" cy="512445"/>
          </a:xfrm>
          <a:prstGeom prst="rect">
            <a:avLst/>
          </a:prstGeom>
        </p:spPr>
        <p:txBody>
          <a:bodyPr anchor="t" rtlCol="false" tIns="0" lIns="0" bIns="0" rIns="0">
            <a:spAutoFit/>
          </a:bodyPr>
          <a:lstStyle/>
          <a:p>
            <a:pPr algn="r">
              <a:lnSpc>
                <a:spcPts val="4200"/>
              </a:lnSpc>
            </a:pPr>
            <a:r>
              <a:rPr lang="en-US" sz="2800" spc="56">
                <a:solidFill>
                  <a:srgbClr val="FFFFFF"/>
                </a:solidFill>
                <a:latin typeface="Open Sauce"/>
                <a:ea typeface="Open Sauce"/>
                <a:cs typeface="Open Sauce"/>
                <a:sym typeface="Open Sauce"/>
              </a:rPr>
              <a:t>Parts of the CavBot Logo</a:t>
            </a:r>
          </a:p>
        </p:txBody>
      </p:sp>
      <p:sp>
        <p:nvSpPr>
          <p:cNvPr name="TextBox 14" id="14"/>
          <p:cNvSpPr txBox="true"/>
          <p:nvPr/>
        </p:nvSpPr>
        <p:spPr>
          <a:xfrm rot="0">
            <a:off x="1014666" y="1219200"/>
            <a:ext cx="6770765" cy="2380135"/>
          </a:xfrm>
          <a:prstGeom prst="rect">
            <a:avLst/>
          </a:prstGeom>
        </p:spPr>
        <p:txBody>
          <a:bodyPr anchor="t" rtlCol="false" tIns="0" lIns="0" bIns="0" rIns="0">
            <a:spAutoFit/>
          </a:bodyPr>
          <a:lstStyle/>
          <a:p>
            <a:pPr algn="l">
              <a:lnSpc>
                <a:spcPts val="9151"/>
              </a:lnSpc>
            </a:pPr>
            <a:r>
              <a:rPr lang="en-US" sz="9243">
                <a:solidFill>
                  <a:srgbClr val="FFFFFF"/>
                </a:solidFill>
                <a:latin typeface="Inter"/>
                <a:ea typeface="Inter"/>
                <a:cs typeface="Inter"/>
                <a:sym typeface="Inter"/>
              </a:rPr>
              <a:t>SYMBOLS &amp;</a:t>
            </a:r>
            <a:r>
              <a:rPr lang="en-US" sz="9243">
                <a:solidFill>
                  <a:srgbClr val="FFFFFF"/>
                </a:solidFill>
                <a:latin typeface="Inter"/>
                <a:ea typeface="Inter"/>
                <a:cs typeface="Inter"/>
                <a:sym typeface="Inter"/>
              </a:rPr>
              <a:t> MEANINGS</a:t>
            </a:r>
          </a:p>
        </p:txBody>
      </p:sp>
      <p:sp>
        <p:nvSpPr>
          <p:cNvPr name="TextBox 15" id="15"/>
          <p:cNvSpPr txBox="true"/>
          <p:nvPr/>
        </p:nvSpPr>
        <p:spPr>
          <a:xfrm rot="0">
            <a:off x="15626482" y="9583737"/>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16" id="16"/>
          <p:cNvSpPr/>
          <p:nvPr/>
        </p:nvSpPr>
        <p:spPr>
          <a:xfrm flipH="false" flipV="false" rot="-1879354">
            <a:off x="480856" y="8798893"/>
            <a:ext cx="437806" cy="492094"/>
          </a:xfrm>
          <a:custGeom>
            <a:avLst/>
            <a:gdLst/>
            <a:ahLst/>
            <a:cxnLst/>
            <a:rect r="r" b="b" t="t" l="l"/>
            <a:pathLst>
              <a:path h="492094" w="437806">
                <a:moveTo>
                  <a:pt x="0" y="0"/>
                </a:moveTo>
                <a:lnTo>
                  <a:pt x="437805" y="0"/>
                </a:lnTo>
                <a:lnTo>
                  <a:pt x="437805" y="492094"/>
                </a:lnTo>
                <a:lnTo>
                  <a:pt x="0" y="4920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10870966" y="7600164"/>
            <a:ext cx="5599112" cy="1177999"/>
            <a:chOff x="0" y="0"/>
            <a:chExt cx="7465483" cy="1570665"/>
          </a:xfrm>
        </p:grpSpPr>
        <p:sp>
          <p:nvSpPr>
            <p:cNvPr name="AutoShape 3" id="3"/>
            <p:cNvSpPr/>
            <p:nvPr/>
          </p:nvSpPr>
          <p:spPr>
            <a:xfrm rot="0">
              <a:off x="0" y="0"/>
              <a:ext cx="7465483" cy="1570665"/>
            </a:xfrm>
            <a:prstGeom prst="rect">
              <a:avLst/>
            </a:prstGeom>
            <a:solidFill>
              <a:srgbClr val="F7FBFF"/>
            </a:solidFill>
          </p:spPr>
        </p:sp>
        <p:sp>
          <p:nvSpPr>
            <p:cNvPr name="TextBox 4" id="4"/>
            <p:cNvSpPr txBox="true"/>
            <p:nvPr/>
          </p:nvSpPr>
          <p:spPr>
            <a:xfrm rot="0">
              <a:off x="3148219" y="621714"/>
              <a:ext cx="1169045" cy="298662"/>
            </a:xfrm>
            <a:prstGeom prst="rect">
              <a:avLst/>
            </a:prstGeom>
          </p:spPr>
          <p:txBody>
            <a:bodyPr anchor="t" rtlCol="false" tIns="0" lIns="0" bIns="0" rIns="0">
              <a:spAutoFit/>
            </a:bodyPr>
            <a:lstStyle/>
            <a:p>
              <a:pPr algn="ctr">
                <a:lnSpc>
                  <a:spcPts val="1959"/>
                </a:lnSpc>
                <a:spcBef>
                  <a:spcPct val="0"/>
                </a:spcBef>
              </a:pPr>
              <a:r>
                <a:rPr lang="en-US" sz="1400" i="true">
                  <a:solidFill>
                    <a:srgbClr val="000000">
                      <a:alpha val="49804"/>
                    </a:srgbClr>
                  </a:solidFill>
                  <a:latin typeface="Open Sans Italics"/>
                  <a:ea typeface="Open Sans Italics"/>
                  <a:cs typeface="Open Sans Italics"/>
                  <a:sym typeface="Open Sans Italics"/>
                </a:rPr>
                <a:t>clear space</a:t>
              </a:r>
            </a:p>
          </p:txBody>
        </p:sp>
      </p:grpSp>
      <p:grpSp>
        <p:nvGrpSpPr>
          <p:cNvPr name="Group 5" id="5"/>
          <p:cNvGrpSpPr/>
          <p:nvPr/>
        </p:nvGrpSpPr>
        <p:grpSpPr>
          <a:xfrm rot="0">
            <a:off x="10870966" y="744607"/>
            <a:ext cx="5599112" cy="1177999"/>
            <a:chOff x="0" y="0"/>
            <a:chExt cx="7465483" cy="1570665"/>
          </a:xfrm>
        </p:grpSpPr>
        <p:sp>
          <p:nvSpPr>
            <p:cNvPr name="AutoShape 6" id="6"/>
            <p:cNvSpPr/>
            <p:nvPr/>
          </p:nvSpPr>
          <p:spPr>
            <a:xfrm rot="0">
              <a:off x="0" y="0"/>
              <a:ext cx="7465483" cy="1570665"/>
            </a:xfrm>
            <a:prstGeom prst="rect">
              <a:avLst/>
            </a:prstGeom>
            <a:solidFill>
              <a:srgbClr val="F7FBFF"/>
            </a:solidFill>
          </p:spPr>
        </p:sp>
        <p:sp>
          <p:nvSpPr>
            <p:cNvPr name="TextBox 7" id="7"/>
            <p:cNvSpPr txBox="true"/>
            <p:nvPr/>
          </p:nvSpPr>
          <p:spPr>
            <a:xfrm rot="0">
              <a:off x="3148219" y="621714"/>
              <a:ext cx="1169045" cy="298662"/>
            </a:xfrm>
            <a:prstGeom prst="rect">
              <a:avLst/>
            </a:prstGeom>
          </p:spPr>
          <p:txBody>
            <a:bodyPr anchor="t" rtlCol="false" tIns="0" lIns="0" bIns="0" rIns="0">
              <a:spAutoFit/>
            </a:bodyPr>
            <a:lstStyle/>
            <a:p>
              <a:pPr algn="ctr">
                <a:lnSpc>
                  <a:spcPts val="1959"/>
                </a:lnSpc>
                <a:spcBef>
                  <a:spcPct val="0"/>
                </a:spcBef>
              </a:pPr>
              <a:r>
                <a:rPr lang="en-US" sz="1400" i="true">
                  <a:solidFill>
                    <a:srgbClr val="000000">
                      <a:alpha val="49804"/>
                    </a:srgbClr>
                  </a:solidFill>
                  <a:latin typeface="Open Sans Italics"/>
                  <a:ea typeface="Open Sans Italics"/>
                  <a:cs typeface="Open Sans Italics"/>
                  <a:sym typeface="Open Sans Italics"/>
                </a:rPr>
                <a:t>clear space</a:t>
              </a:r>
            </a:p>
          </p:txBody>
        </p:sp>
      </p:grpSp>
      <p:grpSp>
        <p:nvGrpSpPr>
          <p:cNvPr name="Group 8" id="8"/>
          <p:cNvGrpSpPr/>
          <p:nvPr/>
        </p:nvGrpSpPr>
        <p:grpSpPr>
          <a:xfrm rot="0">
            <a:off x="9746755" y="1922606"/>
            <a:ext cx="1124212" cy="5677558"/>
            <a:chOff x="0" y="0"/>
            <a:chExt cx="1498949" cy="7570077"/>
          </a:xfrm>
        </p:grpSpPr>
        <p:sp>
          <p:nvSpPr>
            <p:cNvPr name="AutoShape 9" id="9"/>
            <p:cNvSpPr/>
            <p:nvPr/>
          </p:nvSpPr>
          <p:spPr>
            <a:xfrm rot="0">
              <a:off x="0" y="0"/>
              <a:ext cx="1498949" cy="7570077"/>
            </a:xfrm>
            <a:prstGeom prst="rect">
              <a:avLst/>
            </a:prstGeom>
            <a:solidFill>
              <a:srgbClr val="F7FBFF"/>
            </a:solidFill>
          </p:spPr>
        </p:sp>
        <p:sp>
          <p:nvSpPr>
            <p:cNvPr name="TextBox 10" id="10"/>
            <p:cNvSpPr txBox="true"/>
            <p:nvPr/>
          </p:nvSpPr>
          <p:spPr>
            <a:xfrm rot="-5400000">
              <a:off x="150664" y="3635708"/>
              <a:ext cx="1169045" cy="298662"/>
            </a:xfrm>
            <a:prstGeom prst="rect">
              <a:avLst/>
            </a:prstGeom>
          </p:spPr>
          <p:txBody>
            <a:bodyPr anchor="t" rtlCol="false" tIns="0" lIns="0" bIns="0" rIns="0">
              <a:spAutoFit/>
            </a:bodyPr>
            <a:lstStyle/>
            <a:p>
              <a:pPr algn="ctr">
                <a:lnSpc>
                  <a:spcPts val="1959"/>
                </a:lnSpc>
                <a:spcBef>
                  <a:spcPct val="0"/>
                </a:spcBef>
              </a:pPr>
              <a:r>
                <a:rPr lang="en-US" sz="1400" i="true">
                  <a:solidFill>
                    <a:srgbClr val="000000">
                      <a:alpha val="49804"/>
                    </a:srgbClr>
                  </a:solidFill>
                  <a:latin typeface="Open Sans Italics"/>
                  <a:ea typeface="Open Sans Italics"/>
                  <a:cs typeface="Open Sans Italics"/>
                  <a:sym typeface="Open Sans Italics"/>
                </a:rPr>
                <a:t>clear space</a:t>
              </a:r>
            </a:p>
          </p:txBody>
        </p:sp>
      </p:grpSp>
      <p:grpSp>
        <p:nvGrpSpPr>
          <p:cNvPr name="Group 11" id="11"/>
          <p:cNvGrpSpPr/>
          <p:nvPr/>
        </p:nvGrpSpPr>
        <p:grpSpPr>
          <a:xfrm rot="0">
            <a:off x="16470079" y="1922606"/>
            <a:ext cx="1124212" cy="5677558"/>
            <a:chOff x="0" y="0"/>
            <a:chExt cx="1498949" cy="7570077"/>
          </a:xfrm>
        </p:grpSpPr>
        <p:sp>
          <p:nvSpPr>
            <p:cNvPr name="AutoShape 12" id="12"/>
            <p:cNvSpPr/>
            <p:nvPr/>
          </p:nvSpPr>
          <p:spPr>
            <a:xfrm rot="0">
              <a:off x="0" y="0"/>
              <a:ext cx="1498949" cy="7570077"/>
            </a:xfrm>
            <a:prstGeom prst="rect">
              <a:avLst/>
            </a:prstGeom>
            <a:solidFill>
              <a:srgbClr val="F7FBFF"/>
            </a:solidFill>
          </p:spPr>
        </p:sp>
        <p:sp>
          <p:nvSpPr>
            <p:cNvPr name="TextBox 13" id="13"/>
            <p:cNvSpPr txBox="true"/>
            <p:nvPr/>
          </p:nvSpPr>
          <p:spPr>
            <a:xfrm rot="5400000">
              <a:off x="179240" y="3635708"/>
              <a:ext cx="1169045" cy="298662"/>
            </a:xfrm>
            <a:prstGeom prst="rect">
              <a:avLst/>
            </a:prstGeom>
          </p:spPr>
          <p:txBody>
            <a:bodyPr anchor="t" rtlCol="false" tIns="0" lIns="0" bIns="0" rIns="0">
              <a:spAutoFit/>
            </a:bodyPr>
            <a:lstStyle/>
            <a:p>
              <a:pPr algn="ctr">
                <a:lnSpc>
                  <a:spcPts val="1959"/>
                </a:lnSpc>
                <a:spcBef>
                  <a:spcPct val="0"/>
                </a:spcBef>
              </a:pPr>
              <a:r>
                <a:rPr lang="en-US" sz="1400" i="true">
                  <a:solidFill>
                    <a:srgbClr val="000000">
                      <a:alpha val="49804"/>
                    </a:srgbClr>
                  </a:solidFill>
                  <a:latin typeface="Open Sans Italics"/>
                  <a:ea typeface="Open Sans Italics"/>
                  <a:cs typeface="Open Sans Italics"/>
                  <a:sym typeface="Open Sans Italics"/>
                </a:rPr>
                <a:t>clear space</a:t>
              </a:r>
            </a:p>
          </p:txBody>
        </p:sp>
      </p:grpSp>
      <p:grpSp>
        <p:nvGrpSpPr>
          <p:cNvPr name="Group 14" id="14"/>
          <p:cNvGrpSpPr/>
          <p:nvPr/>
        </p:nvGrpSpPr>
        <p:grpSpPr>
          <a:xfrm rot="0">
            <a:off x="-605400" y="521298"/>
            <a:ext cx="9596673" cy="9258300"/>
            <a:chOff x="0" y="0"/>
            <a:chExt cx="2317830" cy="2236104"/>
          </a:xfrm>
        </p:grpSpPr>
        <p:sp>
          <p:nvSpPr>
            <p:cNvPr name="Freeform 15" id="15"/>
            <p:cNvSpPr/>
            <p:nvPr/>
          </p:nvSpPr>
          <p:spPr>
            <a:xfrm flipH="false" flipV="false" rot="0">
              <a:off x="0" y="0"/>
              <a:ext cx="2317830" cy="2236104"/>
            </a:xfrm>
            <a:custGeom>
              <a:avLst/>
              <a:gdLst/>
              <a:ahLst/>
              <a:cxnLst/>
              <a:rect r="r" b="b" t="t" l="l"/>
              <a:pathLst>
                <a:path h="2236104" w="2317830">
                  <a:moveTo>
                    <a:pt x="80673" y="0"/>
                  </a:moveTo>
                  <a:lnTo>
                    <a:pt x="2237157" y="0"/>
                  </a:lnTo>
                  <a:cubicBezTo>
                    <a:pt x="2281711" y="0"/>
                    <a:pt x="2317830" y="36119"/>
                    <a:pt x="2317830" y="80673"/>
                  </a:cubicBezTo>
                  <a:lnTo>
                    <a:pt x="2317830" y="2155431"/>
                  </a:lnTo>
                  <a:cubicBezTo>
                    <a:pt x="2317830" y="2176827"/>
                    <a:pt x="2309330" y="2197347"/>
                    <a:pt x="2294201" y="2212476"/>
                  </a:cubicBezTo>
                  <a:cubicBezTo>
                    <a:pt x="2279072" y="2227605"/>
                    <a:pt x="2258553" y="2236104"/>
                    <a:pt x="2237157" y="2236104"/>
                  </a:cubicBezTo>
                  <a:lnTo>
                    <a:pt x="80673" y="2236104"/>
                  </a:lnTo>
                  <a:cubicBezTo>
                    <a:pt x="36119" y="2236104"/>
                    <a:pt x="0" y="2199986"/>
                    <a:pt x="0" y="2155431"/>
                  </a:cubicBezTo>
                  <a:lnTo>
                    <a:pt x="0" y="80673"/>
                  </a:lnTo>
                  <a:cubicBezTo>
                    <a:pt x="0" y="36119"/>
                    <a:pt x="36119" y="0"/>
                    <a:pt x="80673" y="0"/>
                  </a:cubicBezTo>
                  <a:close/>
                </a:path>
              </a:pathLst>
            </a:custGeom>
            <a:solidFill>
              <a:srgbClr val="140C3D"/>
            </a:solidFill>
          </p:spPr>
        </p:sp>
        <p:sp>
          <p:nvSpPr>
            <p:cNvPr name="TextBox 16" id="16"/>
            <p:cNvSpPr txBox="true"/>
            <p:nvPr/>
          </p:nvSpPr>
          <p:spPr>
            <a:xfrm>
              <a:off x="0" y="-47625"/>
              <a:ext cx="2317830" cy="2283729"/>
            </a:xfrm>
            <a:prstGeom prst="rect">
              <a:avLst/>
            </a:prstGeom>
          </p:spPr>
          <p:txBody>
            <a:bodyPr anchor="ctr" rtlCol="false" tIns="50800" lIns="50800" bIns="50800" rIns="50800"/>
            <a:lstStyle/>
            <a:p>
              <a:pPr algn="ctr">
                <a:lnSpc>
                  <a:spcPts val="3634"/>
                </a:lnSpc>
              </a:pPr>
            </a:p>
          </p:txBody>
        </p:sp>
      </p:grpSp>
      <p:sp>
        <p:nvSpPr>
          <p:cNvPr name="Freeform 17" id="17"/>
          <p:cNvSpPr/>
          <p:nvPr/>
        </p:nvSpPr>
        <p:spPr>
          <a:xfrm flipH="false" flipV="false" rot="0">
            <a:off x="10870966" y="1961829"/>
            <a:ext cx="5599112" cy="5599112"/>
          </a:xfrm>
          <a:custGeom>
            <a:avLst/>
            <a:gdLst/>
            <a:ahLst/>
            <a:cxnLst/>
            <a:rect r="r" b="b" t="t" l="l"/>
            <a:pathLst>
              <a:path h="5599112" w="5599112">
                <a:moveTo>
                  <a:pt x="0" y="0"/>
                </a:moveTo>
                <a:lnTo>
                  <a:pt x="5599113" y="0"/>
                </a:lnTo>
                <a:lnTo>
                  <a:pt x="5599113" y="5599112"/>
                </a:lnTo>
                <a:lnTo>
                  <a:pt x="0" y="5599112"/>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1401277" y="4025458"/>
            <a:ext cx="4538491" cy="1471854"/>
          </a:xfrm>
          <a:custGeom>
            <a:avLst/>
            <a:gdLst/>
            <a:ahLst/>
            <a:cxnLst/>
            <a:rect r="r" b="b" t="t" l="l"/>
            <a:pathLst>
              <a:path h="1471854" w="4538491">
                <a:moveTo>
                  <a:pt x="0" y="0"/>
                </a:moveTo>
                <a:lnTo>
                  <a:pt x="4538491" y="0"/>
                </a:lnTo>
                <a:lnTo>
                  <a:pt x="4538491" y="1471854"/>
                </a:lnTo>
                <a:lnTo>
                  <a:pt x="0" y="1471854"/>
                </a:lnTo>
                <a:lnTo>
                  <a:pt x="0" y="0"/>
                </a:lnTo>
                <a:close/>
              </a:path>
            </a:pathLst>
          </a:custGeom>
          <a:blipFill>
            <a:blip r:embed="rId4"/>
            <a:stretch>
              <a:fillRect l="-4567" t="-28167" r="-4567" b="-29575"/>
            </a:stretch>
          </a:blipFill>
        </p:spPr>
      </p:sp>
      <p:sp>
        <p:nvSpPr>
          <p:cNvPr name="Freeform 19" id="19"/>
          <p:cNvSpPr/>
          <p:nvPr/>
        </p:nvSpPr>
        <p:spPr>
          <a:xfrm flipH="false" flipV="false" rot="1646178">
            <a:off x="7848028" y="8510637"/>
            <a:ext cx="437806" cy="492094"/>
          </a:xfrm>
          <a:custGeom>
            <a:avLst/>
            <a:gdLst/>
            <a:ahLst/>
            <a:cxnLst/>
            <a:rect r="r" b="b" t="t" l="l"/>
            <a:pathLst>
              <a:path h="492094" w="437806">
                <a:moveTo>
                  <a:pt x="0" y="0"/>
                </a:moveTo>
                <a:lnTo>
                  <a:pt x="437806" y="0"/>
                </a:lnTo>
                <a:lnTo>
                  <a:pt x="437806" y="492093"/>
                </a:lnTo>
                <a:lnTo>
                  <a:pt x="0" y="4920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1028700" y="7743630"/>
            <a:ext cx="5275387" cy="1013053"/>
            <a:chOff x="0" y="0"/>
            <a:chExt cx="7033849" cy="1350738"/>
          </a:xfrm>
        </p:grpSpPr>
        <p:sp>
          <p:nvSpPr>
            <p:cNvPr name="TextBox 21" id="21"/>
            <p:cNvSpPr txBox="true"/>
            <p:nvPr/>
          </p:nvSpPr>
          <p:spPr>
            <a:xfrm rot="0">
              <a:off x="0" y="960636"/>
              <a:ext cx="7033849" cy="390102"/>
            </a:xfrm>
            <a:prstGeom prst="rect">
              <a:avLst/>
            </a:prstGeom>
          </p:spPr>
          <p:txBody>
            <a:bodyPr anchor="t" rtlCol="false" tIns="0" lIns="0" bIns="0" rIns="0">
              <a:spAutoFit/>
            </a:bodyPr>
            <a:lstStyle/>
            <a:p>
              <a:pPr algn="l">
                <a:lnSpc>
                  <a:spcPts val="2560"/>
                </a:lnSpc>
              </a:pPr>
            </a:p>
          </p:txBody>
        </p:sp>
        <p:sp>
          <p:nvSpPr>
            <p:cNvPr name="TextBox 22" id="22"/>
            <p:cNvSpPr txBox="true"/>
            <p:nvPr/>
          </p:nvSpPr>
          <p:spPr>
            <a:xfrm rot="0">
              <a:off x="0" y="-85725"/>
              <a:ext cx="5463185" cy="641985"/>
            </a:xfrm>
            <a:prstGeom prst="rect">
              <a:avLst/>
            </a:prstGeom>
          </p:spPr>
          <p:txBody>
            <a:bodyPr anchor="t" rtlCol="false" tIns="0" lIns="0" bIns="0" rIns="0">
              <a:spAutoFit/>
            </a:bodyPr>
            <a:lstStyle/>
            <a:p>
              <a:pPr algn="l">
                <a:lnSpc>
                  <a:spcPts val="4199"/>
                </a:lnSpc>
              </a:pPr>
            </a:p>
          </p:txBody>
        </p:sp>
      </p:grpSp>
      <p:sp>
        <p:nvSpPr>
          <p:cNvPr name="TextBox 23" id="23"/>
          <p:cNvSpPr txBox="true"/>
          <p:nvPr/>
        </p:nvSpPr>
        <p:spPr>
          <a:xfrm rot="0">
            <a:off x="1014666" y="1219200"/>
            <a:ext cx="6744615" cy="2380135"/>
          </a:xfrm>
          <a:prstGeom prst="rect">
            <a:avLst/>
          </a:prstGeom>
        </p:spPr>
        <p:txBody>
          <a:bodyPr anchor="t" rtlCol="false" tIns="0" lIns="0" bIns="0" rIns="0">
            <a:spAutoFit/>
          </a:bodyPr>
          <a:lstStyle/>
          <a:p>
            <a:pPr algn="l">
              <a:lnSpc>
                <a:spcPts val="9151"/>
              </a:lnSpc>
            </a:pPr>
            <a:r>
              <a:rPr lang="en-US" sz="9243">
                <a:solidFill>
                  <a:srgbClr val="FFFFFF"/>
                </a:solidFill>
                <a:latin typeface="Inter"/>
                <a:ea typeface="Inter"/>
                <a:cs typeface="Inter"/>
                <a:sym typeface="Inter"/>
              </a:rPr>
              <a:t>EXCLUS</a:t>
            </a:r>
            <a:r>
              <a:rPr lang="en-US" sz="9243">
                <a:solidFill>
                  <a:srgbClr val="FFFFFF"/>
                </a:solidFill>
                <a:latin typeface="Inter"/>
                <a:ea typeface="Inter"/>
                <a:cs typeface="Inter"/>
                <a:sym typeface="Inter"/>
              </a:rPr>
              <a:t>ION</a:t>
            </a:r>
          </a:p>
          <a:p>
            <a:pPr algn="l">
              <a:lnSpc>
                <a:spcPts val="9151"/>
              </a:lnSpc>
            </a:pPr>
            <a:r>
              <a:rPr lang="en-US" sz="9243">
                <a:solidFill>
                  <a:srgbClr val="FFFFFF"/>
                </a:solidFill>
                <a:latin typeface="Inter"/>
                <a:ea typeface="Inter"/>
                <a:cs typeface="Inter"/>
                <a:sym typeface="Inter"/>
              </a:rPr>
              <a:t>ZONES</a:t>
            </a:r>
          </a:p>
        </p:txBody>
      </p:sp>
      <p:sp>
        <p:nvSpPr>
          <p:cNvPr name="TextBox 24" id="24"/>
          <p:cNvSpPr txBox="true"/>
          <p:nvPr/>
        </p:nvSpPr>
        <p:spPr>
          <a:xfrm rot="0">
            <a:off x="1014666" y="6255419"/>
            <a:ext cx="4488337" cy="2501265"/>
          </a:xfrm>
          <a:prstGeom prst="rect">
            <a:avLst/>
          </a:prstGeom>
        </p:spPr>
        <p:txBody>
          <a:bodyPr anchor="t" rtlCol="false" tIns="0" lIns="0" bIns="0" rIns="0">
            <a:spAutoFit/>
          </a:bodyPr>
          <a:lstStyle/>
          <a:p>
            <a:pPr algn="l">
              <a:lnSpc>
                <a:spcPts val="3359"/>
              </a:lnSpc>
            </a:pPr>
            <a:r>
              <a:rPr lang="en-US" sz="2400">
                <a:solidFill>
                  <a:srgbClr val="FFFFFF"/>
                </a:solidFill>
                <a:latin typeface="Inter Light"/>
                <a:ea typeface="Inter Light"/>
                <a:cs typeface="Inter Light"/>
                <a:sym typeface="Inter Light"/>
              </a:rPr>
              <a:t>When placing our logo, it's crucial to leave enough space around it to ensure visibility and impact. This exclusion zone prevents visual clutter and maintains the logo's integrity. </a:t>
            </a:r>
          </a:p>
        </p:txBody>
      </p:sp>
      <p:sp>
        <p:nvSpPr>
          <p:cNvPr name="TextBox 25" id="25"/>
          <p:cNvSpPr txBox="true"/>
          <p:nvPr/>
        </p:nvSpPr>
        <p:spPr>
          <a:xfrm rot="0">
            <a:off x="1014666" y="4994188"/>
            <a:ext cx="3531640" cy="588865"/>
          </a:xfrm>
          <a:prstGeom prst="rect">
            <a:avLst/>
          </a:prstGeom>
        </p:spPr>
        <p:txBody>
          <a:bodyPr anchor="t" rtlCol="false" tIns="0" lIns="0" bIns="0" rIns="0">
            <a:spAutoFit/>
          </a:bodyPr>
          <a:lstStyle/>
          <a:p>
            <a:pPr algn="l">
              <a:lnSpc>
                <a:spcPts val="4817"/>
              </a:lnSpc>
            </a:pPr>
            <a:r>
              <a:rPr lang="en-US" sz="3441" spc="68">
                <a:solidFill>
                  <a:srgbClr val="FFFFFF"/>
                </a:solidFill>
                <a:latin typeface="Inter Light"/>
                <a:ea typeface="Inter Light"/>
                <a:cs typeface="Inter Light"/>
                <a:sym typeface="Inter Light"/>
              </a:rPr>
              <a:t>SAFE DISTANCE </a:t>
            </a:r>
          </a:p>
        </p:txBody>
      </p:sp>
      <p:sp>
        <p:nvSpPr>
          <p:cNvPr name="TextBox 26" id="26"/>
          <p:cNvSpPr txBox="true"/>
          <p:nvPr/>
        </p:nvSpPr>
        <p:spPr>
          <a:xfrm rot="0">
            <a:off x="15626482" y="9583737"/>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7050007" y="5437247"/>
            <a:ext cx="5104618" cy="3105945"/>
            <a:chOff x="0" y="0"/>
            <a:chExt cx="6806158" cy="4141261"/>
          </a:xfrm>
        </p:grpSpPr>
        <p:sp>
          <p:nvSpPr>
            <p:cNvPr name="AutoShape 3" id="3"/>
            <p:cNvSpPr/>
            <p:nvPr/>
          </p:nvSpPr>
          <p:spPr>
            <a:xfrm rot="0">
              <a:off x="0" y="0"/>
              <a:ext cx="6806158" cy="4141261"/>
            </a:xfrm>
            <a:prstGeom prst="rect">
              <a:avLst/>
            </a:prstGeom>
            <a:solidFill>
              <a:srgbClr val="F7FBFF"/>
            </a:solidFill>
          </p:spPr>
        </p:sp>
        <p:grpSp>
          <p:nvGrpSpPr>
            <p:cNvPr name="Group 4" id="4"/>
            <p:cNvGrpSpPr/>
            <p:nvPr/>
          </p:nvGrpSpPr>
          <p:grpSpPr>
            <a:xfrm rot="0">
              <a:off x="664849" y="729387"/>
              <a:ext cx="5476460" cy="2682486"/>
              <a:chOff x="0" y="0"/>
              <a:chExt cx="19405966" cy="9505451"/>
            </a:xfrm>
          </p:grpSpPr>
          <p:sp>
            <p:nvSpPr>
              <p:cNvPr name="Freeform 5" id="5"/>
              <p:cNvSpPr/>
              <p:nvPr/>
            </p:nvSpPr>
            <p:spPr>
              <a:xfrm flipH="false" flipV="false" rot="0">
                <a:off x="0" y="0"/>
                <a:ext cx="19405966" cy="9505451"/>
              </a:xfrm>
              <a:custGeom>
                <a:avLst/>
                <a:gdLst/>
                <a:ahLst/>
                <a:cxnLst/>
                <a:rect r="r" b="b" t="t" l="l"/>
                <a:pathLst>
                  <a:path h="9505451" w="19405966">
                    <a:moveTo>
                      <a:pt x="0" y="0"/>
                    </a:moveTo>
                    <a:lnTo>
                      <a:pt x="0" y="9505451"/>
                    </a:lnTo>
                    <a:lnTo>
                      <a:pt x="19405966" y="9505451"/>
                    </a:lnTo>
                    <a:lnTo>
                      <a:pt x="19405966" y="0"/>
                    </a:lnTo>
                    <a:lnTo>
                      <a:pt x="0" y="0"/>
                    </a:lnTo>
                    <a:close/>
                    <a:moveTo>
                      <a:pt x="19345005" y="9444491"/>
                    </a:moveTo>
                    <a:lnTo>
                      <a:pt x="59690" y="9444491"/>
                    </a:lnTo>
                    <a:lnTo>
                      <a:pt x="59690" y="59690"/>
                    </a:lnTo>
                    <a:lnTo>
                      <a:pt x="19345005" y="59690"/>
                    </a:lnTo>
                    <a:lnTo>
                      <a:pt x="19345005" y="9444491"/>
                    </a:lnTo>
                    <a:close/>
                  </a:path>
                </a:pathLst>
              </a:custGeom>
              <a:solidFill>
                <a:srgbClr val="737373">
                  <a:alpha val="19608"/>
                </a:srgbClr>
              </a:solidFill>
            </p:spPr>
          </p:sp>
        </p:grpSp>
      </p:grpSp>
      <p:grpSp>
        <p:nvGrpSpPr>
          <p:cNvPr name="Group 6" id="6"/>
          <p:cNvGrpSpPr/>
          <p:nvPr/>
        </p:nvGrpSpPr>
        <p:grpSpPr>
          <a:xfrm rot="0">
            <a:off x="13476485" y="3984534"/>
            <a:ext cx="3067154" cy="5191411"/>
            <a:chOff x="0" y="0"/>
            <a:chExt cx="4089539" cy="6921881"/>
          </a:xfrm>
        </p:grpSpPr>
        <p:sp>
          <p:nvSpPr>
            <p:cNvPr name="AutoShape 7" id="7"/>
            <p:cNvSpPr/>
            <p:nvPr/>
          </p:nvSpPr>
          <p:spPr>
            <a:xfrm rot="-5400000">
              <a:off x="-1416171" y="1416171"/>
              <a:ext cx="6921881" cy="4089539"/>
            </a:xfrm>
            <a:prstGeom prst="rect">
              <a:avLst/>
            </a:prstGeom>
            <a:solidFill>
              <a:srgbClr val="F7FBFF"/>
            </a:solidFill>
          </p:spPr>
        </p:sp>
        <p:grpSp>
          <p:nvGrpSpPr>
            <p:cNvPr name="Group 8" id="8"/>
            <p:cNvGrpSpPr/>
            <p:nvPr/>
          </p:nvGrpSpPr>
          <p:grpSpPr>
            <a:xfrm rot="-5400000">
              <a:off x="-854827" y="2093900"/>
              <a:ext cx="5799193" cy="2714063"/>
              <a:chOff x="0" y="0"/>
              <a:chExt cx="20310493" cy="9505451"/>
            </a:xfrm>
          </p:grpSpPr>
          <p:sp>
            <p:nvSpPr>
              <p:cNvPr name="Freeform 9" id="9"/>
              <p:cNvSpPr/>
              <p:nvPr/>
            </p:nvSpPr>
            <p:spPr>
              <a:xfrm flipH="false" flipV="false" rot="0">
                <a:off x="0" y="0"/>
                <a:ext cx="20310494" cy="9505451"/>
              </a:xfrm>
              <a:custGeom>
                <a:avLst/>
                <a:gdLst/>
                <a:ahLst/>
                <a:cxnLst/>
                <a:rect r="r" b="b" t="t" l="l"/>
                <a:pathLst>
                  <a:path h="9505451" w="20310494">
                    <a:moveTo>
                      <a:pt x="0" y="0"/>
                    </a:moveTo>
                    <a:lnTo>
                      <a:pt x="0" y="9505451"/>
                    </a:lnTo>
                    <a:lnTo>
                      <a:pt x="20310494" y="9505451"/>
                    </a:lnTo>
                    <a:lnTo>
                      <a:pt x="20310494" y="0"/>
                    </a:lnTo>
                    <a:lnTo>
                      <a:pt x="0" y="0"/>
                    </a:lnTo>
                    <a:close/>
                    <a:moveTo>
                      <a:pt x="20249533" y="9444491"/>
                    </a:moveTo>
                    <a:lnTo>
                      <a:pt x="59690" y="9444491"/>
                    </a:lnTo>
                    <a:lnTo>
                      <a:pt x="59690" y="59690"/>
                    </a:lnTo>
                    <a:lnTo>
                      <a:pt x="20249533" y="59690"/>
                    </a:lnTo>
                    <a:lnTo>
                      <a:pt x="20249533" y="9444491"/>
                    </a:lnTo>
                    <a:close/>
                  </a:path>
                </a:pathLst>
              </a:custGeom>
              <a:solidFill>
                <a:srgbClr val="737373">
                  <a:alpha val="19608"/>
                </a:srgbClr>
              </a:solidFill>
            </p:spPr>
          </p:sp>
        </p:grpSp>
      </p:grpSp>
      <p:grpSp>
        <p:nvGrpSpPr>
          <p:cNvPr name="Group 10" id="10"/>
          <p:cNvGrpSpPr/>
          <p:nvPr/>
        </p:nvGrpSpPr>
        <p:grpSpPr>
          <a:xfrm rot="0">
            <a:off x="1744361" y="4971980"/>
            <a:ext cx="3986973" cy="4036481"/>
            <a:chOff x="0" y="0"/>
            <a:chExt cx="5315964" cy="5381975"/>
          </a:xfrm>
        </p:grpSpPr>
        <p:sp>
          <p:nvSpPr>
            <p:cNvPr name="AutoShape 11" id="11"/>
            <p:cNvSpPr/>
            <p:nvPr/>
          </p:nvSpPr>
          <p:spPr>
            <a:xfrm rot="0">
              <a:off x="0" y="0"/>
              <a:ext cx="5315964" cy="5381975"/>
            </a:xfrm>
            <a:prstGeom prst="rect">
              <a:avLst/>
            </a:prstGeom>
            <a:solidFill>
              <a:srgbClr val="F7FBFF"/>
            </a:solidFill>
          </p:spPr>
        </p:sp>
        <p:grpSp>
          <p:nvGrpSpPr>
            <p:cNvPr name="Group 12" id="12"/>
            <p:cNvGrpSpPr/>
            <p:nvPr/>
          </p:nvGrpSpPr>
          <p:grpSpPr>
            <a:xfrm rot="0">
              <a:off x="459411" y="426113"/>
              <a:ext cx="4397143" cy="4529749"/>
              <a:chOff x="0" y="0"/>
              <a:chExt cx="21443877" cy="22090570"/>
            </a:xfrm>
          </p:grpSpPr>
          <p:sp>
            <p:nvSpPr>
              <p:cNvPr name="Freeform 13" id="13"/>
              <p:cNvSpPr/>
              <p:nvPr/>
            </p:nvSpPr>
            <p:spPr>
              <a:xfrm flipH="false" flipV="false" rot="0">
                <a:off x="0" y="0"/>
                <a:ext cx="21443877" cy="22090569"/>
              </a:xfrm>
              <a:custGeom>
                <a:avLst/>
                <a:gdLst/>
                <a:ahLst/>
                <a:cxnLst/>
                <a:rect r="r" b="b" t="t" l="l"/>
                <a:pathLst>
                  <a:path h="22090569" w="21443877">
                    <a:moveTo>
                      <a:pt x="0" y="0"/>
                    </a:moveTo>
                    <a:lnTo>
                      <a:pt x="0" y="22090569"/>
                    </a:lnTo>
                    <a:lnTo>
                      <a:pt x="21443877" y="22090569"/>
                    </a:lnTo>
                    <a:lnTo>
                      <a:pt x="21443877" y="0"/>
                    </a:lnTo>
                    <a:lnTo>
                      <a:pt x="0" y="0"/>
                    </a:lnTo>
                    <a:close/>
                    <a:moveTo>
                      <a:pt x="21382917" y="22029610"/>
                    </a:moveTo>
                    <a:lnTo>
                      <a:pt x="59690" y="22029610"/>
                    </a:lnTo>
                    <a:lnTo>
                      <a:pt x="59690" y="59690"/>
                    </a:lnTo>
                    <a:lnTo>
                      <a:pt x="21382917" y="59690"/>
                    </a:lnTo>
                    <a:lnTo>
                      <a:pt x="21382917" y="22029610"/>
                    </a:lnTo>
                    <a:close/>
                  </a:path>
                </a:pathLst>
              </a:custGeom>
              <a:solidFill>
                <a:srgbClr val="737373">
                  <a:alpha val="19608"/>
                </a:srgbClr>
              </a:solidFill>
            </p:spPr>
          </p:sp>
        </p:grpSp>
      </p:grpSp>
      <p:grpSp>
        <p:nvGrpSpPr>
          <p:cNvPr name="Group 14" id="14"/>
          <p:cNvGrpSpPr/>
          <p:nvPr/>
        </p:nvGrpSpPr>
        <p:grpSpPr>
          <a:xfrm rot="0">
            <a:off x="-1288816" y="-1359115"/>
            <a:ext cx="21124355" cy="4408468"/>
            <a:chOff x="0" y="0"/>
            <a:chExt cx="5102045" cy="1064752"/>
          </a:xfrm>
        </p:grpSpPr>
        <p:sp>
          <p:nvSpPr>
            <p:cNvPr name="Freeform 15" id="15"/>
            <p:cNvSpPr/>
            <p:nvPr/>
          </p:nvSpPr>
          <p:spPr>
            <a:xfrm flipH="false" flipV="false" rot="0">
              <a:off x="0" y="0"/>
              <a:ext cx="5102045" cy="1064752"/>
            </a:xfrm>
            <a:custGeom>
              <a:avLst/>
              <a:gdLst/>
              <a:ahLst/>
              <a:cxnLst/>
              <a:rect r="r" b="b" t="t" l="l"/>
              <a:pathLst>
                <a:path h="1064752" w="5102045">
                  <a:moveTo>
                    <a:pt x="36649" y="0"/>
                  </a:moveTo>
                  <a:lnTo>
                    <a:pt x="5065396" y="0"/>
                  </a:lnTo>
                  <a:cubicBezTo>
                    <a:pt x="5085637" y="0"/>
                    <a:pt x="5102045" y="16408"/>
                    <a:pt x="5102045" y="36649"/>
                  </a:cubicBezTo>
                  <a:lnTo>
                    <a:pt x="5102045" y="1028103"/>
                  </a:lnTo>
                  <a:cubicBezTo>
                    <a:pt x="5102045" y="1037823"/>
                    <a:pt x="5098184" y="1047145"/>
                    <a:pt x="5091311" y="1054018"/>
                  </a:cubicBezTo>
                  <a:cubicBezTo>
                    <a:pt x="5084438" y="1060891"/>
                    <a:pt x="5075116" y="1064752"/>
                    <a:pt x="5065396" y="1064752"/>
                  </a:cubicBezTo>
                  <a:lnTo>
                    <a:pt x="36649" y="1064752"/>
                  </a:lnTo>
                  <a:cubicBezTo>
                    <a:pt x="16408" y="1064752"/>
                    <a:pt x="0" y="1048344"/>
                    <a:pt x="0" y="1028103"/>
                  </a:cubicBezTo>
                  <a:lnTo>
                    <a:pt x="0" y="36649"/>
                  </a:lnTo>
                  <a:cubicBezTo>
                    <a:pt x="0" y="26929"/>
                    <a:pt x="3861" y="17607"/>
                    <a:pt x="10734" y="10734"/>
                  </a:cubicBezTo>
                  <a:cubicBezTo>
                    <a:pt x="17607" y="3861"/>
                    <a:pt x="26929" y="0"/>
                    <a:pt x="36649" y="0"/>
                  </a:cubicBezTo>
                  <a:close/>
                </a:path>
              </a:pathLst>
            </a:custGeom>
            <a:solidFill>
              <a:srgbClr val="140C3D"/>
            </a:solidFill>
          </p:spPr>
        </p:sp>
        <p:sp>
          <p:nvSpPr>
            <p:cNvPr name="TextBox 16" id="16"/>
            <p:cNvSpPr txBox="true"/>
            <p:nvPr/>
          </p:nvSpPr>
          <p:spPr>
            <a:xfrm>
              <a:off x="0" y="-47625"/>
              <a:ext cx="5102045" cy="1112377"/>
            </a:xfrm>
            <a:prstGeom prst="rect">
              <a:avLst/>
            </a:prstGeom>
          </p:spPr>
          <p:txBody>
            <a:bodyPr anchor="ctr" rtlCol="false" tIns="50800" lIns="50800" bIns="50800" rIns="50800"/>
            <a:lstStyle/>
            <a:p>
              <a:pPr algn="ctr">
                <a:lnSpc>
                  <a:spcPts val="3634"/>
                </a:lnSpc>
              </a:pPr>
            </a:p>
          </p:txBody>
        </p:sp>
      </p:grpSp>
      <p:sp>
        <p:nvSpPr>
          <p:cNvPr name="Freeform 17" id="17"/>
          <p:cNvSpPr/>
          <p:nvPr/>
        </p:nvSpPr>
        <p:spPr>
          <a:xfrm flipH="false" flipV="false" rot="0">
            <a:off x="2145289" y="5344823"/>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18" id="18"/>
          <p:cNvSpPr/>
          <p:nvPr/>
        </p:nvSpPr>
        <p:spPr>
          <a:xfrm flipH="false" flipV="false" rot="0">
            <a:off x="2145289" y="8312607"/>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19" id="19"/>
          <p:cNvSpPr/>
          <p:nvPr/>
        </p:nvSpPr>
        <p:spPr>
          <a:xfrm flipH="false" flipV="false" rot="0">
            <a:off x="4982624" y="8312607"/>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0" id="20"/>
          <p:cNvSpPr/>
          <p:nvPr/>
        </p:nvSpPr>
        <p:spPr>
          <a:xfrm flipH="false" flipV="false" rot="0">
            <a:off x="4982624" y="5344823"/>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1" id="21"/>
          <p:cNvSpPr/>
          <p:nvPr/>
        </p:nvSpPr>
        <p:spPr>
          <a:xfrm flipH="false" flipV="false" rot="0">
            <a:off x="7580792" y="6037894"/>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2" id="22"/>
          <p:cNvSpPr/>
          <p:nvPr/>
        </p:nvSpPr>
        <p:spPr>
          <a:xfrm flipH="false" flipV="false" rot="0">
            <a:off x="7580792" y="7606604"/>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3" id="23"/>
          <p:cNvSpPr/>
          <p:nvPr/>
        </p:nvSpPr>
        <p:spPr>
          <a:xfrm flipH="false" flipV="false" rot="0">
            <a:off x="11218573" y="6037894"/>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4" id="24"/>
          <p:cNvSpPr/>
          <p:nvPr/>
        </p:nvSpPr>
        <p:spPr>
          <a:xfrm flipH="false" flipV="false" rot="0">
            <a:off x="11265834" y="7606604"/>
            <a:ext cx="358007" cy="365167"/>
          </a:xfrm>
          <a:custGeom>
            <a:avLst/>
            <a:gdLst/>
            <a:ahLst/>
            <a:cxnLst/>
            <a:rect r="r" b="b" t="t" l="l"/>
            <a:pathLst>
              <a:path h="365167" w="358007">
                <a:moveTo>
                  <a:pt x="0" y="0"/>
                </a:moveTo>
                <a:lnTo>
                  <a:pt x="358006" y="0"/>
                </a:lnTo>
                <a:lnTo>
                  <a:pt x="358006" y="365167"/>
                </a:lnTo>
                <a:lnTo>
                  <a:pt x="0" y="365167"/>
                </a:lnTo>
                <a:lnTo>
                  <a:pt x="0" y="0"/>
                </a:lnTo>
                <a:close/>
              </a:path>
            </a:pathLst>
          </a:custGeom>
          <a:blipFill>
            <a:blip r:embed="rId2"/>
            <a:stretch>
              <a:fillRect l="-139100" t="-43362" r="-135894" b="-40611"/>
            </a:stretch>
          </a:blipFill>
        </p:spPr>
      </p:sp>
      <p:sp>
        <p:nvSpPr>
          <p:cNvPr name="Freeform 25" id="25"/>
          <p:cNvSpPr/>
          <p:nvPr/>
        </p:nvSpPr>
        <p:spPr>
          <a:xfrm flipH="false" flipV="false" rot="0">
            <a:off x="14016822" y="4454613"/>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6" id="26"/>
          <p:cNvSpPr/>
          <p:nvPr/>
        </p:nvSpPr>
        <p:spPr>
          <a:xfrm flipH="false" flipV="false" rot="0">
            <a:off x="15648237" y="4454613"/>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7" id="27"/>
          <p:cNvSpPr/>
          <p:nvPr/>
        </p:nvSpPr>
        <p:spPr>
          <a:xfrm flipH="false" flipV="false" rot="0">
            <a:off x="14016822" y="8360609"/>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Freeform 28" id="28"/>
          <p:cNvSpPr/>
          <p:nvPr/>
        </p:nvSpPr>
        <p:spPr>
          <a:xfrm flipH="false" flipV="false" rot="0">
            <a:off x="15648237" y="8360609"/>
            <a:ext cx="358007" cy="365167"/>
          </a:xfrm>
          <a:custGeom>
            <a:avLst/>
            <a:gdLst/>
            <a:ahLst/>
            <a:cxnLst/>
            <a:rect r="r" b="b" t="t" l="l"/>
            <a:pathLst>
              <a:path h="365167" w="358007">
                <a:moveTo>
                  <a:pt x="0" y="0"/>
                </a:moveTo>
                <a:lnTo>
                  <a:pt x="358007" y="0"/>
                </a:lnTo>
                <a:lnTo>
                  <a:pt x="358007" y="365167"/>
                </a:lnTo>
                <a:lnTo>
                  <a:pt x="0" y="365167"/>
                </a:lnTo>
                <a:lnTo>
                  <a:pt x="0" y="0"/>
                </a:lnTo>
                <a:close/>
              </a:path>
            </a:pathLst>
          </a:custGeom>
          <a:blipFill>
            <a:blip r:embed="rId2"/>
            <a:stretch>
              <a:fillRect l="-139100" t="-43362" r="-135894" b="-40611"/>
            </a:stretch>
          </a:blipFill>
        </p:spPr>
      </p:sp>
      <p:sp>
        <p:nvSpPr>
          <p:cNvPr name="TextBox 29" id="29"/>
          <p:cNvSpPr txBox="true"/>
          <p:nvPr/>
        </p:nvSpPr>
        <p:spPr>
          <a:xfrm rot="0">
            <a:off x="10121829" y="521341"/>
            <a:ext cx="7564533" cy="1990090"/>
          </a:xfrm>
          <a:prstGeom prst="rect">
            <a:avLst/>
          </a:prstGeom>
        </p:spPr>
        <p:txBody>
          <a:bodyPr anchor="t" rtlCol="false" tIns="0" lIns="0" bIns="0" rIns="0">
            <a:spAutoFit/>
          </a:bodyPr>
          <a:lstStyle/>
          <a:p>
            <a:pPr algn="just">
              <a:lnSpc>
                <a:spcPts val="2659"/>
              </a:lnSpc>
            </a:pPr>
            <a:r>
              <a:rPr lang="en-US" sz="1899">
                <a:solidFill>
                  <a:srgbClr val="FFFFFF"/>
                </a:solidFill>
                <a:latin typeface="Inter"/>
                <a:ea typeface="Inter"/>
                <a:cs typeface="Inter"/>
                <a:sym typeface="Inter"/>
              </a:rPr>
              <a:t>When positioning our log</a:t>
            </a:r>
            <a:r>
              <a:rPr lang="en-US" sz="1899">
                <a:solidFill>
                  <a:srgbClr val="FFFFFF"/>
                </a:solidFill>
                <a:latin typeface="Inter"/>
                <a:ea typeface="Inter"/>
                <a:cs typeface="Inter"/>
                <a:sym typeface="Inter"/>
              </a:rPr>
              <a:t>o, it is essential to consider the safe distance around it to ensure optimal visibility and recognit</a:t>
            </a:r>
            <a:r>
              <a:rPr lang="en-US" sz="1899">
                <a:solidFill>
                  <a:srgbClr val="FFFFFF"/>
                </a:solidFill>
                <a:latin typeface="Inter"/>
                <a:ea typeface="Inter"/>
                <a:cs typeface="Inter"/>
                <a:sym typeface="Inter"/>
              </a:rPr>
              <a:t>ion. This exclusion zone helps prevent visual clutter and maintains the logo's clarity and impact. By leaving adequate space around the logo, you can ensure that it stands out effectively in various applications and settings.</a:t>
            </a:r>
          </a:p>
        </p:txBody>
      </p:sp>
      <p:sp>
        <p:nvSpPr>
          <p:cNvPr name="TextBox 30" id="30"/>
          <p:cNvSpPr txBox="true"/>
          <p:nvPr/>
        </p:nvSpPr>
        <p:spPr>
          <a:xfrm rot="0">
            <a:off x="1028700" y="440619"/>
            <a:ext cx="7822533" cy="2380135"/>
          </a:xfrm>
          <a:prstGeom prst="rect">
            <a:avLst/>
          </a:prstGeom>
        </p:spPr>
        <p:txBody>
          <a:bodyPr anchor="t" rtlCol="false" tIns="0" lIns="0" bIns="0" rIns="0">
            <a:spAutoFit/>
          </a:bodyPr>
          <a:lstStyle/>
          <a:p>
            <a:pPr algn="l">
              <a:lnSpc>
                <a:spcPts val="9151"/>
              </a:lnSpc>
            </a:pPr>
            <a:r>
              <a:rPr lang="en-US" sz="9243">
                <a:solidFill>
                  <a:srgbClr val="FFFFFF"/>
                </a:solidFill>
                <a:latin typeface="Inter"/>
                <a:ea typeface="Inter"/>
                <a:cs typeface="Inter"/>
                <a:sym typeface="Inter"/>
              </a:rPr>
              <a:t>LOGO POSIT</a:t>
            </a:r>
            <a:r>
              <a:rPr lang="en-US" sz="9243">
                <a:solidFill>
                  <a:srgbClr val="FFFFFF"/>
                </a:solidFill>
                <a:latin typeface="Inter"/>
                <a:ea typeface="Inter"/>
                <a:cs typeface="Inter"/>
                <a:sym typeface="Inter"/>
              </a:rPr>
              <a:t>IONING</a:t>
            </a:r>
          </a:p>
        </p:txBody>
      </p:sp>
      <p:sp>
        <p:nvSpPr>
          <p:cNvPr name="TextBox 31" id="31"/>
          <p:cNvSpPr txBox="true"/>
          <p:nvPr/>
        </p:nvSpPr>
        <p:spPr>
          <a:xfrm rot="0">
            <a:off x="2045755" y="9531186"/>
            <a:ext cx="3384184"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SQUARE</a:t>
            </a:r>
          </a:p>
        </p:txBody>
      </p:sp>
      <p:sp>
        <p:nvSpPr>
          <p:cNvPr name="TextBox 32" id="32"/>
          <p:cNvSpPr txBox="true"/>
          <p:nvPr/>
        </p:nvSpPr>
        <p:spPr>
          <a:xfrm rot="0">
            <a:off x="7910224" y="9531186"/>
            <a:ext cx="3384184"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LANDS</a:t>
            </a:r>
            <a:r>
              <a:rPr lang="en-US" sz="1600">
                <a:solidFill>
                  <a:srgbClr val="FFFFFF"/>
                </a:solidFill>
                <a:latin typeface="Inter"/>
                <a:ea typeface="Inter"/>
                <a:cs typeface="Inter"/>
                <a:sym typeface="Inter"/>
              </a:rPr>
              <a:t>CAPE</a:t>
            </a:r>
          </a:p>
        </p:txBody>
      </p:sp>
      <p:sp>
        <p:nvSpPr>
          <p:cNvPr name="TextBox 33" id="33"/>
          <p:cNvSpPr txBox="true"/>
          <p:nvPr/>
        </p:nvSpPr>
        <p:spPr>
          <a:xfrm rot="0">
            <a:off x="13234017" y="9531186"/>
            <a:ext cx="3384184" cy="273685"/>
          </a:xfrm>
          <a:prstGeom prst="rect">
            <a:avLst/>
          </a:prstGeom>
        </p:spPr>
        <p:txBody>
          <a:bodyPr anchor="t" rtlCol="false" tIns="0" lIns="0" bIns="0" rIns="0">
            <a:spAutoFit/>
          </a:bodyPr>
          <a:lstStyle/>
          <a:p>
            <a:pPr algn="ctr">
              <a:lnSpc>
                <a:spcPts val="2240"/>
              </a:lnSpc>
            </a:pPr>
            <a:r>
              <a:rPr lang="en-US" sz="1600">
                <a:solidFill>
                  <a:srgbClr val="FFFFFF"/>
                </a:solidFill>
                <a:latin typeface="Inter"/>
                <a:ea typeface="Inter"/>
                <a:cs typeface="Inter"/>
                <a:sym typeface="Inter"/>
              </a:rPr>
              <a:t>PORTRAIT</a:t>
            </a:r>
          </a:p>
        </p:txBody>
      </p:sp>
      <p:grpSp>
        <p:nvGrpSpPr>
          <p:cNvPr name="Group 34" id="34"/>
          <p:cNvGrpSpPr/>
          <p:nvPr/>
        </p:nvGrpSpPr>
        <p:grpSpPr>
          <a:xfrm rot="0">
            <a:off x="-356485" y="3833660"/>
            <a:ext cx="1052695" cy="4408468"/>
            <a:chOff x="0" y="0"/>
            <a:chExt cx="254251" cy="1064752"/>
          </a:xfrm>
        </p:grpSpPr>
        <p:sp>
          <p:nvSpPr>
            <p:cNvPr name="Freeform 35" id="35"/>
            <p:cNvSpPr/>
            <p:nvPr/>
          </p:nvSpPr>
          <p:spPr>
            <a:xfrm flipH="false" flipV="false" rot="0">
              <a:off x="0" y="0"/>
              <a:ext cx="254251" cy="1064752"/>
            </a:xfrm>
            <a:custGeom>
              <a:avLst/>
              <a:gdLst/>
              <a:ahLst/>
              <a:cxnLst/>
              <a:rect r="r" b="b" t="t" l="l"/>
              <a:pathLst>
                <a:path h="1064752" w="254251">
                  <a:moveTo>
                    <a:pt x="127126" y="0"/>
                  </a:moveTo>
                  <a:lnTo>
                    <a:pt x="127126" y="0"/>
                  </a:lnTo>
                  <a:cubicBezTo>
                    <a:pt x="160842" y="0"/>
                    <a:pt x="193176" y="13394"/>
                    <a:pt x="217017" y="37234"/>
                  </a:cubicBezTo>
                  <a:cubicBezTo>
                    <a:pt x="240858" y="61075"/>
                    <a:pt x="254251" y="93410"/>
                    <a:pt x="254251" y="127126"/>
                  </a:cubicBezTo>
                  <a:lnTo>
                    <a:pt x="254251" y="937626"/>
                  </a:lnTo>
                  <a:cubicBezTo>
                    <a:pt x="254251" y="1007836"/>
                    <a:pt x="197335" y="1064752"/>
                    <a:pt x="127126" y="1064752"/>
                  </a:cubicBezTo>
                  <a:lnTo>
                    <a:pt x="127126" y="1064752"/>
                  </a:lnTo>
                  <a:cubicBezTo>
                    <a:pt x="56916" y="1064752"/>
                    <a:pt x="0" y="1007836"/>
                    <a:pt x="0" y="937626"/>
                  </a:cubicBezTo>
                  <a:lnTo>
                    <a:pt x="0" y="127126"/>
                  </a:lnTo>
                  <a:cubicBezTo>
                    <a:pt x="0" y="56916"/>
                    <a:pt x="56916" y="0"/>
                    <a:pt x="127126" y="0"/>
                  </a:cubicBezTo>
                  <a:close/>
                </a:path>
              </a:pathLst>
            </a:custGeom>
            <a:solidFill>
              <a:srgbClr val="140C3D"/>
            </a:solidFill>
          </p:spPr>
        </p:sp>
        <p:sp>
          <p:nvSpPr>
            <p:cNvPr name="TextBox 36" id="36"/>
            <p:cNvSpPr txBox="true"/>
            <p:nvPr/>
          </p:nvSpPr>
          <p:spPr>
            <a:xfrm>
              <a:off x="0" y="-47625"/>
              <a:ext cx="254251" cy="1112377"/>
            </a:xfrm>
            <a:prstGeom prst="rect">
              <a:avLst/>
            </a:prstGeom>
          </p:spPr>
          <p:txBody>
            <a:bodyPr anchor="ctr" rtlCol="false" tIns="50800" lIns="50800" bIns="50800" rIns="50800"/>
            <a:lstStyle/>
            <a:p>
              <a:pPr algn="ctr">
                <a:lnSpc>
                  <a:spcPts val="3634"/>
                </a:lnSpc>
              </a:pPr>
            </a:p>
          </p:txBody>
        </p:sp>
      </p:grpSp>
      <p:sp>
        <p:nvSpPr>
          <p:cNvPr name="TextBox 37" id="37"/>
          <p:cNvSpPr txBox="true"/>
          <p:nvPr/>
        </p:nvSpPr>
        <p:spPr>
          <a:xfrm rot="5400000">
            <a:off x="-633483" y="5868032"/>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38" id="38"/>
          <p:cNvSpPr/>
          <p:nvPr/>
        </p:nvSpPr>
        <p:spPr>
          <a:xfrm flipH="false" flipV="false" rot="1646178">
            <a:off x="7361890" y="279838"/>
            <a:ext cx="437806" cy="492094"/>
          </a:xfrm>
          <a:custGeom>
            <a:avLst/>
            <a:gdLst/>
            <a:ahLst/>
            <a:cxnLst/>
            <a:rect r="r" b="b" t="t" l="l"/>
            <a:pathLst>
              <a:path h="492094" w="437806">
                <a:moveTo>
                  <a:pt x="0" y="0"/>
                </a:moveTo>
                <a:lnTo>
                  <a:pt x="437805" y="0"/>
                </a:lnTo>
                <a:lnTo>
                  <a:pt x="437805" y="492094"/>
                </a:lnTo>
                <a:lnTo>
                  <a:pt x="0" y="492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sp>
        <p:nvSpPr>
          <p:cNvPr name="AutoShape 2" id="2"/>
          <p:cNvSpPr/>
          <p:nvPr/>
        </p:nvSpPr>
        <p:spPr>
          <a:xfrm rot="0">
            <a:off x="6088901" y="2252931"/>
            <a:ext cx="9525" cy="10287000"/>
          </a:xfrm>
          <a:prstGeom prst="rect">
            <a:avLst/>
          </a:prstGeom>
          <a:solidFill>
            <a:srgbClr val="F7FBFF">
              <a:alpha val="40000"/>
            </a:srgbClr>
          </a:solidFill>
        </p:spPr>
      </p:sp>
      <p:sp>
        <p:nvSpPr>
          <p:cNvPr name="AutoShape 3" id="3"/>
          <p:cNvSpPr/>
          <p:nvPr/>
        </p:nvSpPr>
        <p:spPr>
          <a:xfrm rot="0">
            <a:off x="12168839" y="2252931"/>
            <a:ext cx="9525" cy="10287000"/>
          </a:xfrm>
          <a:prstGeom prst="rect">
            <a:avLst/>
          </a:prstGeom>
          <a:solidFill>
            <a:srgbClr val="F7FBFF">
              <a:alpha val="40000"/>
            </a:srgbClr>
          </a:solidFill>
        </p:spPr>
      </p:sp>
      <p:sp>
        <p:nvSpPr>
          <p:cNvPr name="AutoShape 4" id="4"/>
          <p:cNvSpPr/>
          <p:nvPr/>
        </p:nvSpPr>
        <p:spPr>
          <a:xfrm rot="0">
            <a:off x="0" y="2241233"/>
            <a:ext cx="18640776" cy="9525"/>
          </a:xfrm>
          <a:prstGeom prst="rect">
            <a:avLst/>
          </a:prstGeom>
          <a:solidFill>
            <a:srgbClr val="F7FBFF">
              <a:alpha val="40000"/>
            </a:srgbClr>
          </a:solidFill>
        </p:spPr>
      </p:sp>
      <p:sp>
        <p:nvSpPr>
          <p:cNvPr name="AutoShape 5" id="5"/>
          <p:cNvSpPr/>
          <p:nvPr/>
        </p:nvSpPr>
        <p:spPr>
          <a:xfrm rot="0">
            <a:off x="0" y="5581765"/>
            <a:ext cx="18935700" cy="9525"/>
          </a:xfrm>
          <a:prstGeom prst="rect">
            <a:avLst/>
          </a:prstGeom>
          <a:solidFill>
            <a:srgbClr val="F7FBFF">
              <a:alpha val="40000"/>
            </a:srgbClr>
          </a:solidFill>
        </p:spPr>
      </p:sp>
      <p:sp>
        <p:nvSpPr>
          <p:cNvPr name="AutoShape 6" id="6"/>
          <p:cNvSpPr/>
          <p:nvPr/>
        </p:nvSpPr>
        <p:spPr>
          <a:xfrm rot="-5400000">
            <a:off x="8690003" y="689003"/>
            <a:ext cx="907993" cy="18288000"/>
          </a:xfrm>
          <a:prstGeom prst="rect">
            <a:avLst/>
          </a:prstGeom>
          <a:solidFill>
            <a:srgbClr val="140C3D"/>
          </a:solidFill>
        </p:spPr>
      </p:sp>
      <p:sp>
        <p:nvSpPr>
          <p:cNvPr name="Freeform 7" id="7"/>
          <p:cNvSpPr/>
          <p:nvPr/>
        </p:nvSpPr>
        <p:spPr>
          <a:xfrm flipH="false" flipV="false" rot="0">
            <a:off x="8797530" y="6305886"/>
            <a:ext cx="590409" cy="1273431"/>
          </a:xfrm>
          <a:custGeom>
            <a:avLst/>
            <a:gdLst/>
            <a:ahLst/>
            <a:cxnLst/>
            <a:rect r="r" b="b" t="t" l="l"/>
            <a:pathLst>
              <a:path h="1273431" w="590409">
                <a:moveTo>
                  <a:pt x="0" y="0"/>
                </a:moveTo>
                <a:lnTo>
                  <a:pt x="590409" y="0"/>
                </a:lnTo>
                <a:lnTo>
                  <a:pt x="590409" y="1273431"/>
                </a:lnTo>
                <a:lnTo>
                  <a:pt x="0" y="1273431"/>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720087" y="4329015"/>
            <a:ext cx="2598738" cy="1009015"/>
          </a:xfrm>
          <a:prstGeom prst="rect">
            <a:avLst/>
          </a:prstGeom>
        </p:spPr>
        <p:txBody>
          <a:bodyPr anchor="t" rtlCol="false" tIns="0" lIns="0" bIns="0" rIns="0">
            <a:spAutoFit/>
          </a:bodyPr>
          <a:lstStyle/>
          <a:p>
            <a:pPr algn="ctr">
              <a:lnSpc>
                <a:spcPts val="2720"/>
              </a:lnSpc>
              <a:spcBef>
                <a:spcPct val="0"/>
              </a:spcBef>
            </a:pPr>
            <a:r>
              <a:rPr lang="en-US" b="true" sz="1700" u="none">
                <a:solidFill>
                  <a:srgbClr val="FFFFFF"/>
                </a:solidFill>
                <a:latin typeface="Inter Bold"/>
                <a:ea typeface="Inter Bold"/>
                <a:cs typeface="Inter Bold"/>
                <a:sym typeface="Inter Bold"/>
              </a:rPr>
              <a:t>DO NOT </a:t>
            </a:r>
          </a:p>
          <a:p>
            <a:pPr algn="ctr" marL="0" indent="0" lvl="1">
              <a:lnSpc>
                <a:spcPts val="2720"/>
              </a:lnSpc>
              <a:spcBef>
                <a:spcPct val="0"/>
              </a:spcBef>
            </a:pPr>
            <a:r>
              <a:rPr lang="en-US" sz="1700" u="none">
                <a:solidFill>
                  <a:srgbClr val="FFFFFF"/>
                </a:solidFill>
                <a:latin typeface="Inter Light"/>
                <a:ea typeface="Inter Light"/>
                <a:cs typeface="Inter Light"/>
                <a:sym typeface="Inter Light"/>
              </a:rPr>
              <a:t>change the color. Use colors in the palette</a:t>
            </a:r>
          </a:p>
        </p:txBody>
      </p:sp>
      <p:sp>
        <p:nvSpPr>
          <p:cNvPr name="TextBox 9" id="9"/>
          <p:cNvSpPr txBox="true"/>
          <p:nvPr/>
        </p:nvSpPr>
        <p:spPr>
          <a:xfrm rot="0">
            <a:off x="2300791" y="8103292"/>
            <a:ext cx="1430337" cy="1009015"/>
          </a:xfrm>
          <a:prstGeom prst="rect">
            <a:avLst/>
          </a:prstGeom>
        </p:spPr>
        <p:txBody>
          <a:bodyPr anchor="t" rtlCol="false" tIns="0" lIns="0" bIns="0" rIns="0">
            <a:spAutoFit/>
          </a:bodyPr>
          <a:lstStyle/>
          <a:p>
            <a:pPr algn="ctr">
              <a:lnSpc>
                <a:spcPts val="2719"/>
              </a:lnSpc>
              <a:spcBef>
                <a:spcPct val="0"/>
              </a:spcBef>
            </a:pPr>
            <a:r>
              <a:rPr lang="en-US" b="true" sz="1699">
                <a:solidFill>
                  <a:srgbClr val="FFFFFF"/>
                </a:solidFill>
                <a:latin typeface="Inter Bold"/>
                <a:ea typeface="Inter Bold"/>
                <a:cs typeface="Inter Bold"/>
                <a:sym typeface="Inter Bold"/>
              </a:rPr>
              <a:t>DO</a:t>
            </a:r>
            <a:r>
              <a:rPr lang="en-US" b="true" sz="1699" u="none">
                <a:solidFill>
                  <a:srgbClr val="FFFFFF"/>
                </a:solidFill>
                <a:latin typeface="Inter Bold"/>
                <a:ea typeface="Inter Bold"/>
                <a:cs typeface="Inter Bold"/>
                <a:sym typeface="Inter Bold"/>
              </a:rPr>
              <a:t> NOT</a:t>
            </a:r>
          </a:p>
          <a:p>
            <a:pPr algn="ctr" marL="0" indent="0" lvl="1">
              <a:lnSpc>
                <a:spcPts val="2720"/>
              </a:lnSpc>
              <a:spcBef>
                <a:spcPct val="0"/>
              </a:spcBef>
            </a:pPr>
            <a:r>
              <a:rPr lang="en-US" sz="1700" u="none">
                <a:solidFill>
                  <a:srgbClr val="FFFFFF"/>
                </a:solidFill>
                <a:latin typeface="Inter"/>
                <a:ea typeface="Inter"/>
                <a:cs typeface="Inter"/>
                <a:sym typeface="Inter"/>
              </a:rPr>
              <a:t>rotate the logo</a:t>
            </a:r>
          </a:p>
        </p:txBody>
      </p:sp>
      <p:sp>
        <p:nvSpPr>
          <p:cNvPr name="TextBox 10" id="10"/>
          <p:cNvSpPr txBox="true"/>
          <p:nvPr/>
        </p:nvSpPr>
        <p:spPr>
          <a:xfrm rot="0">
            <a:off x="14510180" y="8071464"/>
            <a:ext cx="1582738" cy="1009015"/>
          </a:xfrm>
          <a:prstGeom prst="rect">
            <a:avLst/>
          </a:prstGeom>
        </p:spPr>
        <p:txBody>
          <a:bodyPr anchor="t" rtlCol="false" tIns="0" lIns="0" bIns="0" rIns="0">
            <a:spAutoFit/>
          </a:bodyPr>
          <a:lstStyle/>
          <a:p>
            <a:pPr algn="ctr">
              <a:lnSpc>
                <a:spcPts val="2720"/>
              </a:lnSpc>
              <a:spcBef>
                <a:spcPct val="0"/>
              </a:spcBef>
            </a:pPr>
            <a:r>
              <a:rPr lang="en-US" b="true" sz="1700" u="none">
                <a:solidFill>
                  <a:srgbClr val="FFFFFF"/>
                </a:solidFill>
                <a:latin typeface="Inter Bold"/>
                <a:ea typeface="Inter Bold"/>
                <a:cs typeface="Inter Bold"/>
                <a:sym typeface="Inter Bold"/>
              </a:rPr>
              <a:t>DO NOT</a:t>
            </a:r>
          </a:p>
          <a:p>
            <a:pPr algn="ctr" marL="0" indent="0" lvl="1">
              <a:lnSpc>
                <a:spcPts val="2720"/>
              </a:lnSpc>
              <a:spcBef>
                <a:spcPct val="0"/>
              </a:spcBef>
            </a:pPr>
            <a:r>
              <a:rPr lang="en-US" sz="1700" u="none">
                <a:solidFill>
                  <a:srgbClr val="FFFFFF"/>
                </a:solidFill>
                <a:latin typeface="Inter Light"/>
                <a:ea typeface="Inter Light"/>
                <a:cs typeface="Inter Light"/>
                <a:sym typeface="Inter Light"/>
              </a:rPr>
              <a:t>use tint or opacity</a:t>
            </a:r>
          </a:p>
        </p:txBody>
      </p:sp>
      <p:sp>
        <p:nvSpPr>
          <p:cNvPr name="TextBox 11" id="11"/>
          <p:cNvSpPr txBox="true"/>
          <p:nvPr/>
        </p:nvSpPr>
        <p:spPr>
          <a:xfrm rot="0">
            <a:off x="8368135" y="4312505"/>
            <a:ext cx="1557338" cy="666115"/>
          </a:xfrm>
          <a:prstGeom prst="rect">
            <a:avLst/>
          </a:prstGeom>
        </p:spPr>
        <p:txBody>
          <a:bodyPr anchor="t" rtlCol="false" tIns="0" lIns="0" bIns="0" rIns="0">
            <a:spAutoFit/>
          </a:bodyPr>
          <a:lstStyle/>
          <a:p>
            <a:pPr algn="ctr">
              <a:lnSpc>
                <a:spcPts val="2720"/>
              </a:lnSpc>
              <a:spcBef>
                <a:spcPct val="0"/>
              </a:spcBef>
            </a:pPr>
            <a:r>
              <a:rPr lang="en-US" b="true" sz="1700" u="none">
                <a:solidFill>
                  <a:srgbClr val="FFFFFF"/>
                </a:solidFill>
                <a:latin typeface="Inter Bold"/>
                <a:ea typeface="Inter Bold"/>
                <a:cs typeface="Inter Bold"/>
                <a:sym typeface="Inter Bold"/>
              </a:rPr>
              <a:t>DO NOT </a:t>
            </a:r>
          </a:p>
          <a:p>
            <a:pPr algn="ctr" marL="0" indent="0" lvl="1">
              <a:lnSpc>
                <a:spcPts val="2720"/>
              </a:lnSpc>
              <a:spcBef>
                <a:spcPct val="0"/>
              </a:spcBef>
            </a:pPr>
            <a:r>
              <a:rPr lang="en-US" sz="1700" u="none">
                <a:solidFill>
                  <a:srgbClr val="FFFFFF"/>
                </a:solidFill>
                <a:latin typeface="Inter Light"/>
                <a:ea typeface="Inter Light"/>
                <a:cs typeface="Inter Light"/>
                <a:sym typeface="Inter Light"/>
              </a:rPr>
              <a:t>crop the logo</a:t>
            </a:r>
          </a:p>
        </p:txBody>
      </p:sp>
      <p:sp>
        <p:nvSpPr>
          <p:cNvPr name="TextBox 12" id="12"/>
          <p:cNvSpPr txBox="true"/>
          <p:nvPr/>
        </p:nvSpPr>
        <p:spPr>
          <a:xfrm rot="0">
            <a:off x="14356358" y="4312505"/>
            <a:ext cx="1890381" cy="1009015"/>
          </a:xfrm>
          <a:prstGeom prst="rect">
            <a:avLst/>
          </a:prstGeom>
        </p:spPr>
        <p:txBody>
          <a:bodyPr anchor="t" rtlCol="false" tIns="0" lIns="0" bIns="0" rIns="0">
            <a:spAutoFit/>
          </a:bodyPr>
          <a:lstStyle/>
          <a:p>
            <a:pPr algn="ctr">
              <a:lnSpc>
                <a:spcPts val="2720"/>
              </a:lnSpc>
              <a:spcBef>
                <a:spcPct val="0"/>
              </a:spcBef>
            </a:pPr>
            <a:r>
              <a:rPr lang="en-US" b="true" sz="1700">
                <a:solidFill>
                  <a:srgbClr val="FFFFFF"/>
                </a:solidFill>
                <a:latin typeface="Inter Bold"/>
                <a:ea typeface="Inter Bold"/>
                <a:cs typeface="Inter Bold"/>
                <a:sym typeface="Inter Bold"/>
              </a:rPr>
              <a:t>DO</a:t>
            </a:r>
            <a:r>
              <a:rPr lang="en-US" b="true" sz="1700" u="none">
                <a:solidFill>
                  <a:srgbClr val="FFFFFF"/>
                </a:solidFill>
                <a:latin typeface="Inter Bold"/>
                <a:ea typeface="Inter Bold"/>
                <a:cs typeface="Inter Bold"/>
                <a:sym typeface="Inter Bold"/>
              </a:rPr>
              <a:t> NOT</a:t>
            </a:r>
          </a:p>
          <a:p>
            <a:pPr algn="ctr" marL="0" indent="0" lvl="1">
              <a:lnSpc>
                <a:spcPts val="2720"/>
              </a:lnSpc>
              <a:spcBef>
                <a:spcPct val="0"/>
              </a:spcBef>
            </a:pPr>
            <a:r>
              <a:rPr lang="en-US" b="true" sz="1700" u="none">
                <a:solidFill>
                  <a:srgbClr val="FFFFFF"/>
                </a:solidFill>
                <a:latin typeface="Inter Bold"/>
                <a:ea typeface="Inter Bold"/>
                <a:cs typeface="Inter Bold"/>
                <a:sym typeface="Inter Bold"/>
              </a:rPr>
              <a:t> </a:t>
            </a:r>
            <a:r>
              <a:rPr lang="en-US" sz="1700" u="none">
                <a:solidFill>
                  <a:srgbClr val="FFFFFF"/>
                </a:solidFill>
                <a:latin typeface="Inter Light"/>
                <a:ea typeface="Inter Light"/>
                <a:cs typeface="Inter Light"/>
                <a:sym typeface="Inter Light"/>
              </a:rPr>
              <a:t>add shadows or effects</a:t>
            </a:r>
          </a:p>
        </p:txBody>
      </p:sp>
      <p:sp>
        <p:nvSpPr>
          <p:cNvPr name="TextBox 13" id="13"/>
          <p:cNvSpPr txBox="true"/>
          <p:nvPr/>
        </p:nvSpPr>
        <p:spPr>
          <a:xfrm rot="0">
            <a:off x="7949035" y="8053683"/>
            <a:ext cx="2395538" cy="1044575"/>
          </a:xfrm>
          <a:prstGeom prst="rect">
            <a:avLst/>
          </a:prstGeom>
        </p:spPr>
        <p:txBody>
          <a:bodyPr anchor="t" rtlCol="false" tIns="0" lIns="0" bIns="0" rIns="0">
            <a:spAutoFit/>
          </a:bodyPr>
          <a:lstStyle/>
          <a:p>
            <a:pPr algn="ctr">
              <a:lnSpc>
                <a:spcPts val="2719"/>
              </a:lnSpc>
            </a:pPr>
            <a:r>
              <a:rPr lang="en-US" b="true" sz="1699">
                <a:solidFill>
                  <a:srgbClr val="FFFFFF"/>
                </a:solidFill>
                <a:latin typeface="Inter Bold"/>
                <a:ea typeface="Inter Bold"/>
                <a:cs typeface="Inter Bold"/>
                <a:sym typeface="Inter Bold"/>
              </a:rPr>
              <a:t>DO NOT</a:t>
            </a:r>
            <a:r>
              <a:rPr lang="en-US" sz="1699">
                <a:solidFill>
                  <a:srgbClr val="FFFFFF"/>
                </a:solidFill>
                <a:latin typeface="Inter Light"/>
                <a:ea typeface="Inter Light"/>
                <a:cs typeface="Inter Light"/>
                <a:sym typeface="Inter Light"/>
              </a:rPr>
              <a:t> </a:t>
            </a:r>
          </a:p>
          <a:p>
            <a:pPr algn="ctr" marL="0" indent="0" lvl="1">
              <a:lnSpc>
                <a:spcPts val="2880"/>
              </a:lnSpc>
              <a:spcBef>
                <a:spcPct val="0"/>
              </a:spcBef>
            </a:pPr>
            <a:r>
              <a:rPr lang="en-US" sz="1800">
                <a:solidFill>
                  <a:srgbClr val="FFFFFF"/>
                </a:solidFill>
                <a:latin typeface="Inter Light"/>
                <a:ea typeface="Inter Light"/>
                <a:cs typeface="Inter Light"/>
                <a:sym typeface="Inter Light"/>
              </a:rPr>
              <a:t>put over another illustration</a:t>
            </a:r>
          </a:p>
        </p:txBody>
      </p:sp>
      <p:grpSp>
        <p:nvGrpSpPr>
          <p:cNvPr name="Group 14" id="14"/>
          <p:cNvGrpSpPr/>
          <p:nvPr/>
        </p:nvGrpSpPr>
        <p:grpSpPr>
          <a:xfrm rot="0">
            <a:off x="-1288816" y="-1359115"/>
            <a:ext cx="21124355" cy="3335580"/>
            <a:chOff x="0" y="0"/>
            <a:chExt cx="5102045" cy="805624"/>
          </a:xfrm>
        </p:grpSpPr>
        <p:sp>
          <p:nvSpPr>
            <p:cNvPr name="Freeform 15" id="15"/>
            <p:cNvSpPr/>
            <p:nvPr/>
          </p:nvSpPr>
          <p:spPr>
            <a:xfrm flipH="false" flipV="false" rot="0">
              <a:off x="0" y="0"/>
              <a:ext cx="5102045" cy="805624"/>
            </a:xfrm>
            <a:custGeom>
              <a:avLst/>
              <a:gdLst/>
              <a:ahLst/>
              <a:cxnLst/>
              <a:rect r="r" b="b" t="t" l="l"/>
              <a:pathLst>
                <a:path h="805624" w="5102045">
                  <a:moveTo>
                    <a:pt x="36649" y="0"/>
                  </a:moveTo>
                  <a:lnTo>
                    <a:pt x="5065396" y="0"/>
                  </a:lnTo>
                  <a:cubicBezTo>
                    <a:pt x="5085637" y="0"/>
                    <a:pt x="5102045" y="16408"/>
                    <a:pt x="5102045" y="36649"/>
                  </a:cubicBezTo>
                  <a:lnTo>
                    <a:pt x="5102045" y="768974"/>
                  </a:lnTo>
                  <a:cubicBezTo>
                    <a:pt x="5102045" y="778694"/>
                    <a:pt x="5098184" y="788016"/>
                    <a:pt x="5091311" y="794889"/>
                  </a:cubicBezTo>
                  <a:cubicBezTo>
                    <a:pt x="5084438" y="801762"/>
                    <a:pt x="5075116" y="805624"/>
                    <a:pt x="5065396" y="805624"/>
                  </a:cubicBezTo>
                  <a:lnTo>
                    <a:pt x="36649" y="805624"/>
                  </a:lnTo>
                  <a:cubicBezTo>
                    <a:pt x="16408" y="805624"/>
                    <a:pt x="0" y="789215"/>
                    <a:pt x="0" y="768974"/>
                  </a:cubicBezTo>
                  <a:lnTo>
                    <a:pt x="0" y="36649"/>
                  </a:lnTo>
                  <a:cubicBezTo>
                    <a:pt x="0" y="26929"/>
                    <a:pt x="3861" y="17607"/>
                    <a:pt x="10734" y="10734"/>
                  </a:cubicBezTo>
                  <a:cubicBezTo>
                    <a:pt x="17607" y="3861"/>
                    <a:pt x="26929" y="0"/>
                    <a:pt x="36649" y="0"/>
                  </a:cubicBezTo>
                  <a:close/>
                </a:path>
              </a:pathLst>
            </a:custGeom>
            <a:solidFill>
              <a:srgbClr val="140C3D"/>
            </a:solidFill>
          </p:spPr>
        </p:sp>
        <p:sp>
          <p:nvSpPr>
            <p:cNvPr name="TextBox 16" id="16"/>
            <p:cNvSpPr txBox="true"/>
            <p:nvPr/>
          </p:nvSpPr>
          <p:spPr>
            <a:xfrm>
              <a:off x="0" y="-47625"/>
              <a:ext cx="5102045" cy="853249"/>
            </a:xfrm>
            <a:prstGeom prst="rect">
              <a:avLst/>
            </a:prstGeom>
          </p:spPr>
          <p:txBody>
            <a:bodyPr anchor="ctr" rtlCol="false" tIns="50800" lIns="50800" bIns="50800" rIns="50800"/>
            <a:lstStyle/>
            <a:p>
              <a:pPr algn="ctr">
                <a:lnSpc>
                  <a:spcPts val="3634"/>
                </a:lnSpc>
              </a:pPr>
            </a:p>
          </p:txBody>
        </p:sp>
      </p:grpSp>
      <p:sp>
        <p:nvSpPr>
          <p:cNvPr name="TextBox 17" id="17"/>
          <p:cNvSpPr txBox="true"/>
          <p:nvPr/>
        </p:nvSpPr>
        <p:spPr>
          <a:xfrm rot="0">
            <a:off x="10259436" y="729615"/>
            <a:ext cx="7335888" cy="512445"/>
          </a:xfrm>
          <a:prstGeom prst="rect">
            <a:avLst/>
          </a:prstGeom>
        </p:spPr>
        <p:txBody>
          <a:bodyPr anchor="t" rtlCol="false" tIns="0" lIns="0" bIns="0" rIns="0">
            <a:spAutoFit/>
          </a:bodyPr>
          <a:lstStyle/>
          <a:p>
            <a:pPr algn="r">
              <a:lnSpc>
                <a:spcPts val="4200"/>
              </a:lnSpc>
            </a:pPr>
            <a:r>
              <a:rPr lang="en-US" sz="2800" spc="56">
                <a:solidFill>
                  <a:srgbClr val="FFFFFF"/>
                </a:solidFill>
                <a:latin typeface="Open Sauce"/>
                <a:ea typeface="Open Sauce"/>
                <a:cs typeface="Open Sauce"/>
                <a:sym typeface="Open Sauce"/>
              </a:rPr>
              <a:t>Rules on logo use to keep in mind</a:t>
            </a:r>
          </a:p>
        </p:txBody>
      </p:sp>
      <p:sp>
        <p:nvSpPr>
          <p:cNvPr name="TextBox 18" id="18"/>
          <p:cNvSpPr txBox="true"/>
          <p:nvPr/>
        </p:nvSpPr>
        <p:spPr>
          <a:xfrm rot="0">
            <a:off x="1028700" y="514908"/>
            <a:ext cx="6952383" cy="1218085"/>
          </a:xfrm>
          <a:prstGeom prst="rect">
            <a:avLst/>
          </a:prstGeom>
        </p:spPr>
        <p:txBody>
          <a:bodyPr anchor="t" rtlCol="false" tIns="0" lIns="0" bIns="0" rIns="0">
            <a:spAutoFit/>
          </a:bodyPr>
          <a:lstStyle/>
          <a:p>
            <a:pPr algn="l">
              <a:lnSpc>
                <a:spcPts val="9151"/>
              </a:lnSpc>
            </a:pPr>
            <a:r>
              <a:rPr lang="en-US" sz="9243">
                <a:solidFill>
                  <a:srgbClr val="FFFFFF"/>
                </a:solidFill>
                <a:latin typeface="Inter"/>
                <a:ea typeface="Inter"/>
                <a:cs typeface="Inter"/>
                <a:sym typeface="Inter"/>
              </a:rPr>
              <a:t>REM</a:t>
            </a:r>
            <a:r>
              <a:rPr lang="en-US" sz="9243">
                <a:solidFill>
                  <a:srgbClr val="FFFFFF"/>
                </a:solidFill>
                <a:latin typeface="Inter"/>
                <a:ea typeface="Inter"/>
                <a:cs typeface="Inter"/>
                <a:sym typeface="Inter"/>
              </a:rPr>
              <a:t>INDERS</a:t>
            </a:r>
          </a:p>
        </p:txBody>
      </p:sp>
      <p:sp>
        <p:nvSpPr>
          <p:cNvPr name="Freeform 19" id="19"/>
          <p:cNvSpPr/>
          <p:nvPr/>
        </p:nvSpPr>
        <p:spPr>
          <a:xfrm flipH="false" flipV="false" rot="0">
            <a:off x="2547448" y="2899386"/>
            <a:ext cx="944016" cy="1044554"/>
          </a:xfrm>
          <a:custGeom>
            <a:avLst/>
            <a:gdLst/>
            <a:ahLst/>
            <a:cxnLst/>
            <a:rect r="r" b="b" t="t" l="l"/>
            <a:pathLst>
              <a:path h="1044554" w="944016">
                <a:moveTo>
                  <a:pt x="0" y="0"/>
                </a:moveTo>
                <a:lnTo>
                  <a:pt x="944016" y="0"/>
                </a:lnTo>
                <a:lnTo>
                  <a:pt x="944016" y="1044554"/>
                </a:lnTo>
                <a:lnTo>
                  <a:pt x="0" y="1044554"/>
                </a:lnTo>
                <a:lnTo>
                  <a:pt x="0" y="0"/>
                </a:lnTo>
                <a:close/>
              </a:path>
            </a:pathLst>
          </a:custGeom>
          <a:blipFill>
            <a:blip r:embed="rId4"/>
            <a:stretch>
              <a:fillRect l="0" t="0" r="0" b="0"/>
            </a:stretch>
          </a:blipFill>
        </p:spPr>
      </p:sp>
      <p:sp>
        <p:nvSpPr>
          <p:cNvPr name="Freeform 20" id="20"/>
          <p:cNvSpPr/>
          <p:nvPr/>
        </p:nvSpPr>
        <p:spPr>
          <a:xfrm flipH="false" flipV="false" rot="0">
            <a:off x="8600249" y="2760302"/>
            <a:ext cx="965921" cy="696859"/>
          </a:xfrm>
          <a:custGeom>
            <a:avLst/>
            <a:gdLst/>
            <a:ahLst/>
            <a:cxnLst/>
            <a:rect r="r" b="b" t="t" l="l"/>
            <a:pathLst>
              <a:path h="696859" w="965921">
                <a:moveTo>
                  <a:pt x="0" y="0"/>
                </a:moveTo>
                <a:lnTo>
                  <a:pt x="965921" y="0"/>
                </a:lnTo>
                <a:lnTo>
                  <a:pt x="965921" y="696858"/>
                </a:lnTo>
                <a:lnTo>
                  <a:pt x="0" y="696858"/>
                </a:lnTo>
                <a:lnTo>
                  <a:pt x="0" y="0"/>
                </a:lnTo>
                <a:close/>
              </a:path>
            </a:pathLst>
          </a:custGeom>
          <a:blipFill>
            <a:blip r:embed="rId5"/>
            <a:stretch>
              <a:fillRect l="0" t="0" r="0" b="-53372"/>
            </a:stretch>
          </a:blipFill>
        </p:spPr>
      </p:sp>
      <p:sp>
        <p:nvSpPr>
          <p:cNvPr name="Freeform 21" id="21"/>
          <p:cNvSpPr/>
          <p:nvPr/>
        </p:nvSpPr>
        <p:spPr>
          <a:xfrm flipH="false" flipV="false" rot="0">
            <a:off x="14833037" y="2760302"/>
            <a:ext cx="937024" cy="1036817"/>
          </a:xfrm>
          <a:custGeom>
            <a:avLst/>
            <a:gdLst/>
            <a:ahLst/>
            <a:cxnLst/>
            <a:rect r="r" b="b" t="t" l="l"/>
            <a:pathLst>
              <a:path h="1036817" w="937024">
                <a:moveTo>
                  <a:pt x="0" y="0"/>
                </a:moveTo>
                <a:lnTo>
                  <a:pt x="937023" y="0"/>
                </a:lnTo>
                <a:lnTo>
                  <a:pt x="937023" y="1036817"/>
                </a:lnTo>
                <a:lnTo>
                  <a:pt x="0" y="1036817"/>
                </a:lnTo>
                <a:lnTo>
                  <a:pt x="0" y="0"/>
                </a:lnTo>
                <a:close/>
              </a:path>
            </a:pathLst>
          </a:custGeom>
          <a:blipFill>
            <a:blip r:embed="rId6"/>
            <a:stretch>
              <a:fillRect l="0" t="0" r="0" b="0"/>
            </a:stretch>
          </a:blipFill>
        </p:spPr>
      </p:sp>
      <p:sp>
        <p:nvSpPr>
          <p:cNvPr name="Freeform 22" id="22"/>
          <p:cNvSpPr/>
          <p:nvPr/>
        </p:nvSpPr>
        <p:spPr>
          <a:xfrm flipH="false" flipV="false" rot="-10800000">
            <a:off x="2547448" y="6361624"/>
            <a:ext cx="937024" cy="1036817"/>
          </a:xfrm>
          <a:custGeom>
            <a:avLst/>
            <a:gdLst/>
            <a:ahLst/>
            <a:cxnLst/>
            <a:rect r="r" b="b" t="t" l="l"/>
            <a:pathLst>
              <a:path h="1036817" w="937024">
                <a:moveTo>
                  <a:pt x="0" y="0"/>
                </a:moveTo>
                <a:lnTo>
                  <a:pt x="937023" y="0"/>
                </a:lnTo>
                <a:lnTo>
                  <a:pt x="937023" y="1036818"/>
                </a:lnTo>
                <a:lnTo>
                  <a:pt x="0" y="1036818"/>
                </a:lnTo>
                <a:lnTo>
                  <a:pt x="0" y="0"/>
                </a:lnTo>
                <a:close/>
              </a:path>
            </a:pathLst>
          </a:custGeom>
          <a:blipFill>
            <a:blip r:embed="rId5"/>
            <a:stretch>
              <a:fillRect l="0" t="0" r="0" b="0"/>
            </a:stretch>
          </a:blipFill>
        </p:spPr>
      </p:sp>
      <p:sp>
        <p:nvSpPr>
          <p:cNvPr name="Freeform 23" id="23"/>
          <p:cNvSpPr/>
          <p:nvPr/>
        </p:nvSpPr>
        <p:spPr>
          <a:xfrm flipH="false" flipV="false" rot="0">
            <a:off x="8614697" y="6424193"/>
            <a:ext cx="937024" cy="1036817"/>
          </a:xfrm>
          <a:custGeom>
            <a:avLst/>
            <a:gdLst/>
            <a:ahLst/>
            <a:cxnLst/>
            <a:rect r="r" b="b" t="t" l="l"/>
            <a:pathLst>
              <a:path h="1036817" w="937024">
                <a:moveTo>
                  <a:pt x="0" y="0"/>
                </a:moveTo>
                <a:lnTo>
                  <a:pt x="937024" y="0"/>
                </a:lnTo>
                <a:lnTo>
                  <a:pt x="937024" y="1036817"/>
                </a:lnTo>
                <a:lnTo>
                  <a:pt x="0" y="1036817"/>
                </a:lnTo>
                <a:lnTo>
                  <a:pt x="0" y="0"/>
                </a:lnTo>
                <a:close/>
              </a:path>
            </a:pathLst>
          </a:custGeom>
          <a:blipFill>
            <a:blip r:embed="rId5"/>
            <a:stretch>
              <a:fillRect l="0" t="0" r="0" b="0"/>
            </a:stretch>
          </a:blipFill>
        </p:spPr>
      </p:sp>
      <p:sp>
        <p:nvSpPr>
          <p:cNvPr name="Freeform 24" id="24"/>
          <p:cNvSpPr/>
          <p:nvPr/>
        </p:nvSpPr>
        <p:spPr>
          <a:xfrm flipH="false" flipV="false" rot="0">
            <a:off x="14833037" y="6424193"/>
            <a:ext cx="937024" cy="1036817"/>
          </a:xfrm>
          <a:custGeom>
            <a:avLst/>
            <a:gdLst/>
            <a:ahLst/>
            <a:cxnLst/>
            <a:rect r="r" b="b" t="t" l="l"/>
            <a:pathLst>
              <a:path h="1036817" w="937024">
                <a:moveTo>
                  <a:pt x="0" y="0"/>
                </a:moveTo>
                <a:lnTo>
                  <a:pt x="937023" y="0"/>
                </a:lnTo>
                <a:lnTo>
                  <a:pt x="937023" y="1036817"/>
                </a:lnTo>
                <a:lnTo>
                  <a:pt x="0" y="1036817"/>
                </a:lnTo>
                <a:lnTo>
                  <a:pt x="0" y="0"/>
                </a:lnTo>
                <a:close/>
              </a:path>
            </a:pathLst>
          </a:custGeom>
          <a:blipFill>
            <a:blip r:embed="rId5">
              <a:alphaModFix amt="40000"/>
            </a:blip>
            <a:stretch>
              <a:fillRect l="0" t="0" r="0" b="0"/>
            </a:stretch>
          </a:blipFill>
        </p:spPr>
      </p:sp>
      <p:sp>
        <p:nvSpPr>
          <p:cNvPr name="TextBox 25" id="25"/>
          <p:cNvSpPr txBox="true"/>
          <p:nvPr/>
        </p:nvSpPr>
        <p:spPr>
          <a:xfrm rot="0">
            <a:off x="15648908" y="9644091"/>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26" id="26"/>
          <p:cNvSpPr/>
          <p:nvPr/>
        </p:nvSpPr>
        <p:spPr>
          <a:xfrm flipH="false" flipV="false" rot="1646178">
            <a:off x="1117448" y="9512578"/>
            <a:ext cx="437806" cy="492094"/>
          </a:xfrm>
          <a:custGeom>
            <a:avLst/>
            <a:gdLst/>
            <a:ahLst/>
            <a:cxnLst/>
            <a:rect r="r" b="b" t="t" l="l"/>
            <a:pathLst>
              <a:path h="492094" w="437806">
                <a:moveTo>
                  <a:pt x="0" y="0"/>
                </a:moveTo>
                <a:lnTo>
                  <a:pt x="437805" y="0"/>
                </a:lnTo>
                <a:lnTo>
                  <a:pt x="437805" y="492093"/>
                </a:lnTo>
                <a:lnTo>
                  <a:pt x="0" y="4920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0C3D"/>
        </a:solidFill>
      </p:bgPr>
    </p:bg>
    <p:spTree>
      <p:nvGrpSpPr>
        <p:cNvPr id="1" name=""/>
        <p:cNvGrpSpPr/>
        <p:nvPr/>
      </p:nvGrpSpPr>
      <p:grpSpPr>
        <a:xfrm>
          <a:off x="0" y="0"/>
          <a:ext cx="0" cy="0"/>
          <a:chOff x="0" y="0"/>
          <a:chExt cx="0" cy="0"/>
        </a:xfrm>
      </p:grpSpPr>
      <p:sp>
        <p:nvSpPr>
          <p:cNvPr name="TextBox 2" id="2"/>
          <p:cNvSpPr txBox="true"/>
          <p:nvPr/>
        </p:nvSpPr>
        <p:spPr>
          <a:xfrm rot="0">
            <a:off x="11251580" y="962025"/>
            <a:ext cx="6537076" cy="645380"/>
          </a:xfrm>
          <a:prstGeom prst="rect">
            <a:avLst/>
          </a:prstGeom>
        </p:spPr>
        <p:txBody>
          <a:bodyPr anchor="t" rtlCol="false" tIns="0" lIns="0" bIns="0" rIns="0">
            <a:spAutoFit/>
          </a:bodyPr>
          <a:lstStyle/>
          <a:p>
            <a:pPr algn="l">
              <a:lnSpc>
                <a:spcPts val="5377"/>
              </a:lnSpc>
            </a:pPr>
            <a:r>
              <a:rPr lang="en-US" sz="3841">
                <a:solidFill>
                  <a:srgbClr val="FFFFFF"/>
                </a:solidFill>
                <a:latin typeface="Inter"/>
                <a:ea typeface="Inter"/>
                <a:cs typeface="Inter"/>
                <a:sym typeface="Inter"/>
              </a:rPr>
              <a:t>Color Philosophy</a:t>
            </a:r>
          </a:p>
        </p:txBody>
      </p:sp>
      <p:sp>
        <p:nvSpPr>
          <p:cNvPr name="AutoShape 3" id="3"/>
          <p:cNvSpPr/>
          <p:nvPr/>
        </p:nvSpPr>
        <p:spPr>
          <a:xfrm flipV="true">
            <a:off x="0" y="3947847"/>
            <a:ext cx="18288000" cy="0"/>
          </a:xfrm>
          <a:prstGeom prst="line">
            <a:avLst/>
          </a:prstGeom>
          <a:ln cap="flat" w="9525">
            <a:solidFill>
              <a:srgbClr val="F7FBFF">
                <a:alpha val="69804"/>
              </a:srgbClr>
            </a:solidFill>
            <a:prstDash val="solid"/>
            <a:headEnd type="none" len="sm" w="sm"/>
            <a:tailEnd type="none" len="sm" w="sm"/>
          </a:ln>
        </p:spPr>
      </p:sp>
      <p:grpSp>
        <p:nvGrpSpPr>
          <p:cNvPr name="Group 4" id="4"/>
          <p:cNvGrpSpPr/>
          <p:nvPr/>
        </p:nvGrpSpPr>
        <p:grpSpPr>
          <a:xfrm rot="0">
            <a:off x="9805848" y="4839705"/>
            <a:ext cx="631645" cy="824384"/>
            <a:chOff x="0" y="0"/>
            <a:chExt cx="338776" cy="442150"/>
          </a:xfrm>
        </p:grpSpPr>
        <p:sp>
          <p:nvSpPr>
            <p:cNvPr name="Freeform 5" id="5"/>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solidFill>
          </p:spPr>
        </p:sp>
        <p:sp>
          <p:nvSpPr>
            <p:cNvPr name="TextBox 6" id="6"/>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7" id="7"/>
          <p:cNvGrpSpPr/>
          <p:nvPr/>
        </p:nvGrpSpPr>
        <p:grpSpPr>
          <a:xfrm rot="0">
            <a:off x="10548843" y="4839705"/>
            <a:ext cx="631645" cy="824384"/>
            <a:chOff x="0" y="0"/>
            <a:chExt cx="338776" cy="442150"/>
          </a:xfrm>
        </p:grpSpPr>
        <p:sp>
          <p:nvSpPr>
            <p:cNvPr name="Freeform 8" id="8"/>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89804"/>
              </a:srgbClr>
            </a:solidFill>
          </p:spPr>
        </p:sp>
        <p:sp>
          <p:nvSpPr>
            <p:cNvPr name="TextBox 9" id="9"/>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0" id="10"/>
          <p:cNvGrpSpPr/>
          <p:nvPr/>
        </p:nvGrpSpPr>
        <p:grpSpPr>
          <a:xfrm rot="0">
            <a:off x="11290964" y="4839705"/>
            <a:ext cx="631645" cy="824384"/>
            <a:chOff x="0" y="0"/>
            <a:chExt cx="338776" cy="442150"/>
          </a:xfrm>
        </p:grpSpPr>
        <p:sp>
          <p:nvSpPr>
            <p:cNvPr name="Freeform 11" id="11"/>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80000"/>
              </a:srgbClr>
            </a:solidFill>
          </p:spPr>
        </p:sp>
        <p:sp>
          <p:nvSpPr>
            <p:cNvPr name="TextBox 12" id="12"/>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3" id="13"/>
          <p:cNvGrpSpPr/>
          <p:nvPr/>
        </p:nvGrpSpPr>
        <p:grpSpPr>
          <a:xfrm rot="0">
            <a:off x="12033085" y="4839705"/>
            <a:ext cx="631645" cy="824384"/>
            <a:chOff x="0" y="0"/>
            <a:chExt cx="338776" cy="442150"/>
          </a:xfrm>
        </p:grpSpPr>
        <p:sp>
          <p:nvSpPr>
            <p:cNvPr name="Freeform 14" id="14"/>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69804"/>
              </a:srgbClr>
            </a:solidFill>
          </p:spPr>
        </p:sp>
        <p:sp>
          <p:nvSpPr>
            <p:cNvPr name="TextBox 15" id="15"/>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6" id="16"/>
          <p:cNvGrpSpPr/>
          <p:nvPr/>
        </p:nvGrpSpPr>
        <p:grpSpPr>
          <a:xfrm rot="0">
            <a:off x="12775205" y="4839705"/>
            <a:ext cx="631645" cy="824384"/>
            <a:chOff x="0" y="0"/>
            <a:chExt cx="338776" cy="442150"/>
          </a:xfrm>
        </p:grpSpPr>
        <p:sp>
          <p:nvSpPr>
            <p:cNvPr name="Freeform 17" id="17"/>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60000"/>
              </a:srgbClr>
            </a:solidFill>
          </p:spPr>
        </p:sp>
        <p:sp>
          <p:nvSpPr>
            <p:cNvPr name="TextBox 18" id="18"/>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9" id="19"/>
          <p:cNvGrpSpPr/>
          <p:nvPr/>
        </p:nvGrpSpPr>
        <p:grpSpPr>
          <a:xfrm rot="0">
            <a:off x="13517326" y="4839705"/>
            <a:ext cx="631645" cy="824384"/>
            <a:chOff x="0" y="0"/>
            <a:chExt cx="338776" cy="442150"/>
          </a:xfrm>
        </p:grpSpPr>
        <p:sp>
          <p:nvSpPr>
            <p:cNvPr name="Freeform 20" id="20"/>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49804"/>
              </a:srgbClr>
            </a:solidFill>
          </p:spPr>
        </p:sp>
        <p:sp>
          <p:nvSpPr>
            <p:cNvPr name="TextBox 21" id="21"/>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22" id="22"/>
          <p:cNvGrpSpPr/>
          <p:nvPr/>
        </p:nvGrpSpPr>
        <p:grpSpPr>
          <a:xfrm rot="0">
            <a:off x="14259446" y="4839705"/>
            <a:ext cx="631645" cy="824384"/>
            <a:chOff x="0" y="0"/>
            <a:chExt cx="338776" cy="442150"/>
          </a:xfrm>
        </p:grpSpPr>
        <p:sp>
          <p:nvSpPr>
            <p:cNvPr name="Freeform 23" id="23"/>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40000"/>
              </a:srgbClr>
            </a:solidFill>
          </p:spPr>
        </p:sp>
        <p:sp>
          <p:nvSpPr>
            <p:cNvPr name="TextBox 24" id="24"/>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25" id="25"/>
          <p:cNvGrpSpPr/>
          <p:nvPr/>
        </p:nvGrpSpPr>
        <p:grpSpPr>
          <a:xfrm rot="0">
            <a:off x="15000937" y="4839705"/>
            <a:ext cx="631645" cy="824384"/>
            <a:chOff x="0" y="0"/>
            <a:chExt cx="338776" cy="442150"/>
          </a:xfrm>
        </p:grpSpPr>
        <p:sp>
          <p:nvSpPr>
            <p:cNvPr name="Freeform 26" id="26"/>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29804"/>
              </a:srgbClr>
            </a:solidFill>
          </p:spPr>
        </p:sp>
        <p:sp>
          <p:nvSpPr>
            <p:cNvPr name="TextBox 27" id="27"/>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28" id="28"/>
          <p:cNvGrpSpPr/>
          <p:nvPr/>
        </p:nvGrpSpPr>
        <p:grpSpPr>
          <a:xfrm rot="0">
            <a:off x="15742051" y="4839705"/>
            <a:ext cx="631645" cy="824384"/>
            <a:chOff x="0" y="0"/>
            <a:chExt cx="338776" cy="442150"/>
          </a:xfrm>
        </p:grpSpPr>
        <p:sp>
          <p:nvSpPr>
            <p:cNvPr name="Freeform 29" id="29"/>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19608"/>
              </a:srgbClr>
            </a:solidFill>
          </p:spPr>
        </p:sp>
        <p:sp>
          <p:nvSpPr>
            <p:cNvPr name="TextBox 30" id="30"/>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31" id="31"/>
          <p:cNvGrpSpPr/>
          <p:nvPr/>
        </p:nvGrpSpPr>
        <p:grpSpPr>
          <a:xfrm rot="0">
            <a:off x="16483165" y="4839705"/>
            <a:ext cx="631645" cy="824384"/>
            <a:chOff x="0" y="0"/>
            <a:chExt cx="338776" cy="442150"/>
          </a:xfrm>
        </p:grpSpPr>
        <p:sp>
          <p:nvSpPr>
            <p:cNvPr name="Freeform 32" id="32"/>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B9C85A">
                <a:alpha val="9804"/>
              </a:srgbClr>
            </a:solidFill>
          </p:spPr>
        </p:sp>
        <p:sp>
          <p:nvSpPr>
            <p:cNvPr name="TextBox 33" id="33"/>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34" id="34"/>
          <p:cNvGrpSpPr/>
          <p:nvPr/>
        </p:nvGrpSpPr>
        <p:grpSpPr>
          <a:xfrm rot="0">
            <a:off x="1150819" y="7327129"/>
            <a:ext cx="631645" cy="824384"/>
            <a:chOff x="0" y="0"/>
            <a:chExt cx="338776" cy="442150"/>
          </a:xfrm>
        </p:grpSpPr>
        <p:sp>
          <p:nvSpPr>
            <p:cNvPr name="Freeform 35" id="35"/>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solidFill>
          </p:spPr>
        </p:sp>
        <p:sp>
          <p:nvSpPr>
            <p:cNvPr name="TextBox 36" id="36"/>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37" id="37"/>
          <p:cNvGrpSpPr/>
          <p:nvPr/>
        </p:nvGrpSpPr>
        <p:grpSpPr>
          <a:xfrm rot="0">
            <a:off x="1893814" y="7327129"/>
            <a:ext cx="631645" cy="824384"/>
            <a:chOff x="0" y="0"/>
            <a:chExt cx="338776" cy="442150"/>
          </a:xfrm>
        </p:grpSpPr>
        <p:sp>
          <p:nvSpPr>
            <p:cNvPr name="Freeform 38" id="38"/>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89804"/>
              </a:srgbClr>
            </a:solidFill>
          </p:spPr>
        </p:sp>
        <p:sp>
          <p:nvSpPr>
            <p:cNvPr name="TextBox 39" id="39"/>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40" id="40"/>
          <p:cNvGrpSpPr/>
          <p:nvPr/>
        </p:nvGrpSpPr>
        <p:grpSpPr>
          <a:xfrm rot="0">
            <a:off x="2635935" y="7327129"/>
            <a:ext cx="631645" cy="824384"/>
            <a:chOff x="0" y="0"/>
            <a:chExt cx="338776" cy="442150"/>
          </a:xfrm>
        </p:grpSpPr>
        <p:sp>
          <p:nvSpPr>
            <p:cNvPr name="Freeform 41" id="41"/>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80000"/>
              </a:srgbClr>
            </a:solidFill>
          </p:spPr>
        </p:sp>
        <p:sp>
          <p:nvSpPr>
            <p:cNvPr name="TextBox 42" id="42"/>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43" id="43"/>
          <p:cNvGrpSpPr/>
          <p:nvPr/>
        </p:nvGrpSpPr>
        <p:grpSpPr>
          <a:xfrm rot="0">
            <a:off x="3378056" y="7327129"/>
            <a:ext cx="631645" cy="824384"/>
            <a:chOff x="0" y="0"/>
            <a:chExt cx="338776" cy="442150"/>
          </a:xfrm>
        </p:grpSpPr>
        <p:sp>
          <p:nvSpPr>
            <p:cNvPr name="Freeform 44" id="44"/>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69804"/>
              </a:srgbClr>
            </a:solidFill>
          </p:spPr>
        </p:sp>
        <p:sp>
          <p:nvSpPr>
            <p:cNvPr name="TextBox 45" id="45"/>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46" id="46"/>
          <p:cNvGrpSpPr/>
          <p:nvPr/>
        </p:nvGrpSpPr>
        <p:grpSpPr>
          <a:xfrm rot="0">
            <a:off x="4120176" y="7327129"/>
            <a:ext cx="631645" cy="824384"/>
            <a:chOff x="0" y="0"/>
            <a:chExt cx="338776" cy="442150"/>
          </a:xfrm>
        </p:grpSpPr>
        <p:sp>
          <p:nvSpPr>
            <p:cNvPr name="Freeform 47" id="47"/>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60000"/>
              </a:srgbClr>
            </a:solidFill>
          </p:spPr>
        </p:sp>
        <p:sp>
          <p:nvSpPr>
            <p:cNvPr name="TextBox 48" id="48"/>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49" id="49"/>
          <p:cNvGrpSpPr/>
          <p:nvPr/>
        </p:nvGrpSpPr>
        <p:grpSpPr>
          <a:xfrm rot="0">
            <a:off x="4862297" y="7327129"/>
            <a:ext cx="631645" cy="824384"/>
            <a:chOff x="0" y="0"/>
            <a:chExt cx="338776" cy="442150"/>
          </a:xfrm>
        </p:grpSpPr>
        <p:sp>
          <p:nvSpPr>
            <p:cNvPr name="Freeform 50" id="50"/>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49804"/>
              </a:srgbClr>
            </a:solidFill>
          </p:spPr>
        </p:sp>
        <p:sp>
          <p:nvSpPr>
            <p:cNvPr name="TextBox 51" id="51"/>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52" id="52"/>
          <p:cNvGrpSpPr/>
          <p:nvPr/>
        </p:nvGrpSpPr>
        <p:grpSpPr>
          <a:xfrm rot="0">
            <a:off x="5604418" y="7327129"/>
            <a:ext cx="631645" cy="824384"/>
            <a:chOff x="0" y="0"/>
            <a:chExt cx="338776" cy="442150"/>
          </a:xfrm>
        </p:grpSpPr>
        <p:sp>
          <p:nvSpPr>
            <p:cNvPr name="Freeform 53" id="53"/>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40000"/>
              </a:srgbClr>
            </a:solidFill>
          </p:spPr>
        </p:sp>
        <p:sp>
          <p:nvSpPr>
            <p:cNvPr name="TextBox 54" id="54"/>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55" id="55"/>
          <p:cNvGrpSpPr/>
          <p:nvPr/>
        </p:nvGrpSpPr>
        <p:grpSpPr>
          <a:xfrm rot="0">
            <a:off x="6345909" y="7327129"/>
            <a:ext cx="631645" cy="824384"/>
            <a:chOff x="0" y="0"/>
            <a:chExt cx="338776" cy="442150"/>
          </a:xfrm>
        </p:grpSpPr>
        <p:sp>
          <p:nvSpPr>
            <p:cNvPr name="Freeform 56" id="56"/>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29804"/>
              </a:srgbClr>
            </a:solidFill>
          </p:spPr>
        </p:sp>
        <p:sp>
          <p:nvSpPr>
            <p:cNvPr name="TextBox 57" id="57"/>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58" id="58"/>
          <p:cNvGrpSpPr/>
          <p:nvPr/>
        </p:nvGrpSpPr>
        <p:grpSpPr>
          <a:xfrm rot="0">
            <a:off x="7087023" y="7327129"/>
            <a:ext cx="631645" cy="824384"/>
            <a:chOff x="0" y="0"/>
            <a:chExt cx="338776" cy="442150"/>
          </a:xfrm>
        </p:grpSpPr>
        <p:sp>
          <p:nvSpPr>
            <p:cNvPr name="Freeform 59" id="59"/>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19608"/>
              </a:srgbClr>
            </a:solidFill>
          </p:spPr>
        </p:sp>
        <p:sp>
          <p:nvSpPr>
            <p:cNvPr name="TextBox 60" id="60"/>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61" id="61"/>
          <p:cNvGrpSpPr/>
          <p:nvPr/>
        </p:nvGrpSpPr>
        <p:grpSpPr>
          <a:xfrm rot="0">
            <a:off x="7828137" y="7327129"/>
            <a:ext cx="631645" cy="824384"/>
            <a:chOff x="0" y="0"/>
            <a:chExt cx="338776" cy="442150"/>
          </a:xfrm>
        </p:grpSpPr>
        <p:sp>
          <p:nvSpPr>
            <p:cNvPr name="Freeform 62" id="62"/>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4EA8FF">
                <a:alpha val="9804"/>
              </a:srgbClr>
            </a:solidFill>
          </p:spPr>
        </p:sp>
        <p:sp>
          <p:nvSpPr>
            <p:cNvPr name="TextBox 63" id="63"/>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sp>
        <p:nvSpPr>
          <p:cNvPr name="Freeform 64" id="64"/>
          <p:cNvSpPr/>
          <p:nvPr/>
        </p:nvSpPr>
        <p:spPr>
          <a:xfrm flipH="false" flipV="false" rot="1646178">
            <a:off x="17046345" y="548537"/>
            <a:ext cx="437806" cy="492094"/>
          </a:xfrm>
          <a:custGeom>
            <a:avLst/>
            <a:gdLst/>
            <a:ahLst/>
            <a:cxnLst/>
            <a:rect r="r" b="b" t="t" l="l"/>
            <a:pathLst>
              <a:path h="492094" w="437806">
                <a:moveTo>
                  <a:pt x="0" y="0"/>
                </a:moveTo>
                <a:lnTo>
                  <a:pt x="437805" y="0"/>
                </a:lnTo>
                <a:lnTo>
                  <a:pt x="437805" y="492094"/>
                </a:lnTo>
                <a:lnTo>
                  <a:pt x="0" y="492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5" id="65"/>
          <p:cNvSpPr txBox="true"/>
          <p:nvPr/>
        </p:nvSpPr>
        <p:spPr>
          <a:xfrm rot="0">
            <a:off x="1028700" y="903974"/>
            <a:ext cx="9244465" cy="2455545"/>
          </a:xfrm>
          <a:prstGeom prst="rect">
            <a:avLst/>
          </a:prstGeom>
        </p:spPr>
        <p:txBody>
          <a:bodyPr anchor="t" rtlCol="false" tIns="0" lIns="0" bIns="0" rIns="0">
            <a:spAutoFit/>
          </a:bodyPr>
          <a:lstStyle/>
          <a:p>
            <a:pPr algn="l">
              <a:lnSpc>
                <a:spcPts val="9120"/>
              </a:lnSpc>
            </a:pPr>
            <a:r>
              <a:rPr lang="en-US" sz="11400">
                <a:solidFill>
                  <a:srgbClr val="FFFFFF"/>
                </a:solidFill>
                <a:latin typeface="Inter"/>
                <a:ea typeface="Inter"/>
                <a:cs typeface="Inter"/>
                <a:sym typeface="Inter"/>
              </a:rPr>
              <a:t>COLOR PALETTE</a:t>
            </a:r>
          </a:p>
        </p:txBody>
      </p:sp>
      <p:sp>
        <p:nvSpPr>
          <p:cNvPr name="TextBox 66" id="66"/>
          <p:cNvSpPr txBox="true"/>
          <p:nvPr/>
        </p:nvSpPr>
        <p:spPr>
          <a:xfrm rot="0">
            <a:off x="11251580" y="1879334"/>
            <a:ext cx="5058416" cy="1749425"/>
          </a:xfrm>
          <a:prstGeom prst="rect">
            <a:avLst/>
          </a:prstGeom>
        </p:spPr>
        <p:txBody>
          <a:bodyPr anchor="t" rtlCol="false" tIns="0" lIns="0" bIns="0" rIns="0">
            <a:spAutoFit/>
          </a:bodyPr>
          <a:lstStyle/>
          <a:p>
            <a:pPr algn="just">
              <a:lnSpc>
                <a:spcPts val="2799"/>
              </a:lnSpc>
            </a:pPr>
            <a:r>
              <a:rPr lang="en-US" sz="1999">
                <a:solidFill>
                  <a:srgbClr val="FFFFFF"/>
                </a:solidFill>
                <a:latin typeface="Inter"/>
                <a:ea typeface="Inter"/>
                <a:cs typeface="Inter"/>
                <a:sym typeface="Inter"/>
              </a:rPr>
              <a:t>Vi</a:t>
            </a:r>
            <a:r>
              <a:rPr lang="en-US" sz="1999">
                <a:solidFill>
                  <a:srgbClr val="FFFFFF"/>
                </a:solidFill>
                <a:latin typeface="Inter"/>
                <a:ea typeface="Inter"/>
                <a:cs typeface="Inter"/>
                <a:sym typeface="Inter"/>
              </a:rPr>
              <a:t>olet expresses calm intelligence, lime highlights key signals, and deep graphite grounds everything in a stable control-room feel.</a:t>
            </a:r>
          </a:p>
          <a:p>
            <a:pPr algn="just">
              <a:lnSpc>
                <a:spcPts val="2799"/>
              </a:lnSpc>
            </a:pPr>
          </a:p>
        </p:txBody>
      </p:sp>
      <p:grpSp>
        <p:nvGrpSpPr>
          <p:cNvPr name="Group 67" id="67"/>
          <p:cNvGrpSpPr/>
          <p:nvPr/>
        </p:nvGrpSpPr>
        <p:grpSpPr>
          <a:xfrm rot="0">
            <a:off x="1093823" y="4839705"/>
            <a:ext cx="7308962" cy="1083764"/>
            <a:chOff x="0" y="0"/>
            <a:chExt cx="9745283" cy="1445019"/>
          </a:xfrm>
        </p:grpSpPr>
        <p:grpSp>
          <p:nvGrpSpPr>
            <p:cNvPr name="Group 68" id="68"/>
            <p:cNvGrpSpPr/>
            <p:nvPr/>
          </p:nvGrpSpPr>
          <p:grpSpPr>
            <a:xfrm rot="0">
              <a:off x="0" y="0"/>
              <a:ext cx="842193" cy="1099179"/>
              <a:chOff x="0" y="0"/>
              <a:chExt cx="338776" cy="442150"/>
            </a:xfrm>
          </p:grpSpPr>
          <p:sp>
            <p:nvSpPr>
              <p:cNvPr name="Freeform 69" id="69"/>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solidFill>
            </p:spPr>
          </p:sp>
          <p:sp>
            <p:nvSpPr>
              <p:cNvPr name="TextBox 70" id="70"/>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71" id="71"/>
            <p:cNvGrpSpPr/>
            <p:nvPr/>
          </p:nvGrpSpPr>
          <p:grpSpPr>
            <a:xfrm rot="0">
              <a:off x="990660" y="0"/>
              <a:ext cx="842193" cy="1099179"/>
              <a:chOff x="0" y="0"/>
              <a:chExt cx="338776" cy="442150"/>
            </a:xfrm>
          </p:grpSpPr>
          <p:sp>
            <p:nvSpPr>
              <p:cNvPr name="Freeform 72" id="72"/>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89804"/>
                </a:srgbClr>
              </a:solidFill>
            </p:spPr>
          </p:sp>
          <p:sp>
            <p:nvSpPr>
              <p:cNvPr name="TextBox 73" id="73"/>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74" id="74"/>
            <p:cNvGrpSpPr/>
            <p:nvPr/>
          </p:nvGrpSpPr>
          <p:grpSpPr>
            <a:xfrm rot="0">
              <a:off x="1980155" y="0"/>
              <a:ext cx="842193" cy="1099179"/>
              <a:chOff x="0" y="0"/>
              <a:chExt cx="338776" cy="442150"/>
            </a:xfrm>
          </p:grpSpPr>
          <p:sp>
            <p:nvSpPr>
              <p:cNvPr name="Freeform 75" id="75"/>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80000"/>
                </a:srgbClr>
              </a:solidFill>
            </p:spPr>
          </p:sp>
          <p:sp>
            <p:nvSpPr>
              <p:cNvPr name="TextBox 76" id="76"/>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77" id="77"/>
            <p:cNvGrpSpPr/>
            <p:nvPr/>
          </p:nvGrpSpPr>
          <p:grpSpPr>
            <a:xfrm rot="0">
              <a:off x="2969649" y="0"/>
              <a:ext cx="842193" cy="1099179"/>
              <a:chOff x="0" y="0"/>
              <a:chExt cx="338776" cy="442150"/>
            </a:xfrm>
          </p:grpSpPr>
          <p:sp>
            <p:nvSpPr>
              <p:cNvPr name="Freeform 78" id="78"/>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69804"/>
                </a:srgbClr>
              </a:solidFill>
            </p:spPr>
          </p:sp>
          <p:sp>
            <p:nvSpPr>
              <p:cNvPr name="TextBox 79" id="79"/>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80" id="80"/>
            <p:cNvGrpSpPr/>
            <p:nvPr/>
          </p:nvGrpSpPr>
          <p:grpSpPr>
            <a:xfrm rot="0">
              <a:off x="3959143" y="0"/>
              <a:ext cx="842193" cy="1099179"/>
              <a:chOff x="0" y="0"/>
              <a:chExt cx="338776" cy="442150"/>
            </a:xfrm>
          </p:grpSpPr>
          <p:sp>
            <p:nvSpPr>
              <p:cNvPr name="Freeform 81" id="81"/>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60000"/>
                </a:srgbClr>
              </a:solidFill>
            </p:spPr>
          </p:sp>
          <p:sp>
            <p:nvSpPr>
              <p:cNvPr name="TextBox 82" id="82"/>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83" id="83"/>
            <p:cNvGrpSpPr/>
            <p:nvPr/>
          </p:nvGrpSpPr>
          <p:grpSpPr>
            <a:xfrm rot="0">
              <a:off x="4948637" y="0"/>
              <a:ext cx="842193" cy="1099179"/>
              <a:chOff x="0" y="0"/>
              <a:chExt cx="338776" cy="442150"/>
            </a:xfrm>
          </p:grpSpPr>
          <p:sp>
            <p:nvSpPr>
              <p:cNvPr name="Freeform 84" id="84"/>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49804"/>
                </a:srgbClr>
              </a:solidFill>
            </p:spPr>
          </p:sp>
          <p:sp>
            <p:nvSpPr>
              <p:cNvPr name="TextBox 85" id="85"/>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86" id="86"/>
            <p:cNvGrpSpPr/>
            <p:nvPr/>
          </p:nvGrpSpPr>
          <p:grpSpPr>
            <a:xfrm rot="0">
              <a:off x="5938131" y="0"/>
              <a:ext cx="842193" cy="1099179"/>
              <a:chOff x="0" y="0"/>
              <a:chExt cx="338776" cy="442150"/>
            </a:xfrm>
          </p:grpSpPr>
          <p:sp>
            <p:nvSpPr>
              <p:cNvPr name="Freeform 87" id="87"/>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40000"/>
                </a:srgbClr>
              </a:solidFill>
            </p:spPr>
          </p:sp>
          <p:sp>
            <p:nvSpPr>
              <p:cNvPr name="TextBox 88" id="88"/>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89" id="89"/>
            <p:cNvGrpSpPr/>
            <p:nvPr/>
          </p:nvGrpSpPr>
          <p:grpSpPr>
            <a:xfrm rot="0">
              <a:off x="6926786" y="0"/>
              <a:ext cx="842193" cy="1099179"/>
              <a:chOff x="0" y="0"/>
              <a:chExt cx="338776" cy="442150"/>
            </a:xfrm>
          </p:grpSpPr>
          <p:sp>
            <p:nvSpPr>
              <p:cNvPr name="Freeform 90" id="90"/>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29804"/>
                </a:srgbClr>
              </a:solidFill>
            </p:spPr>
          </p:sp>
          <p:sp>
            <p:nvSpPr>
              <p:cNvPr name="TextBox 91" id="91"/>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92" id="92"/>
            <p:cNvGrpSpPr/>
            <p:nvPr/>
          </p:nvGrpSpPr>
          <p:grpSpPr>
            <a:xfrm rot="0">
              <a:off x="7914938" y="0"/>
              <a:ext cx="842193" cy="1099179"/>
              <a:chOff x="0" y="0"/>
              <a:chExt cx="338776" cy="442150"/>
            </a:xfrm>
          </p:grpSpPr>
          <p:sp>
            <p:nvSpPr>
              <p:cNvPr name="Freeform 93" id="93"/>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19608"/>
                </a:srgbClr>
              </a:solidFill>
            </p:spPr>
          </p:sp>
          <p:sp>
            <p:nvSpPr>
              <p:cNvPr name="TextBox 94" id="94"/>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95" id="95"/>
            <p:cNvGrpSpPr/>
            <p:nvPr/>
          </p:nvGrpSpPr>
          <p:grpSpPr>
            <a:xfrm rot="0">
              <a:off x="8903090" y="0"/>
              <a:ext cx="842193" cy="1099179"/>
              <a:chOff x="0" y="0"/>
              <a:chExt cx="338776" cy="442150"/>
            </a:xfrm>
          </p:grpSpPr>
          <p:sp>
            <p:nvSpPr>
              <p:cNvPr name="Freeform 96" id="96"/>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8B5CFF">
                  <a:alpha val="9804"/>
                </a:srgbClr>
              </a:solidFill>
            </p:spPr>
          </p:sp>
          <p:sp>
            <p:nvSpPr>
              <p:cNvPr name="TextBox 97" id="97"/>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sp>
          <p:nvSpPr>
            <p:cNvPr name="TextBox 98" id="98"/>
            <p:cNvSpPr txBox="true"/>
            <p:nvPr/>
          </p:nvSpPr>
          <p:spPr>
            <a:xfrm rot="0">
              <a:off x="105823" y="1199697"/>
              <a:ext cx="630547"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100%</a:t>
              </a:r>
            </a:p>
          </p:txBody>
        </p:sp>
        <p:sp>
          <p:nvSpPr>
            <p:cNvPr name="TextBox 99" id="99"/>
            <p:cNvSpPr txBox="true"/>
            <p:nvPr/>
          </p:nvSpPr>
          <p:spPr>
            <a:xfrm rot="0">
              <a:off x="1145570"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90%</a:t>
              </a:r>
            </a:p>
          </p:txBody>
        </p:sp>
        <p:sp>
          <p:nvSpPr>
            <p:cNvPr name="TextBox 100" id="100"/>
            <p:cNvSpPr txBox="true"/>
            <p:nvPr/>
          </p:nvSpPr>
          <p:spPr>
            <a:xfrm rot="0">
              <a:off x="2135064"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80%</a:t>
              </a:r>
            </a:p>
          </p:txBody>
        </p:sp>
        <p:sp>
          <p:nvSpPr>
            <p:cNvPr name="TextBox 101" id="101"/>
            <p:cNvSpPr txBox="true"/>
            <p:nvPr/>
          </p:nvSpPr>
          <p:spPr>
            <a:xfrm rot="0">
              <a:off x="3124558"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70%</a:t>
              </a:r>
            </a:p>
          </p:txBody>
        </p:sp>
        <p:sp>
          <p:nvSpPr>
            <p:cNvPr name="TextBox 102" id="102"/>
            <p:cNvSpPr txBox="true"/>
            <p:nvPr/>
          </p:nvSpPr>
          <p:spPr>
            <a:xfrm rot="0">
              <a:off x="4114457"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60%</a:t>
              </a:r>
            </a:p>
          </p:txBody>
        </p:sp>
        <p:sp>
          <p:nvSpPr>
            <p:cNvPr name="TextBox 103" id="103"/>
            <p:cNvSpPr txBox="true"/>
            <p:nvPr/>
          </p:nvSpPr>
          <p:spPr>
            <a:xfrm rot="0">
              <a:off x="5103547"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50%</a:t>
              </a:r>
            </a:p>
          </p:txBody>
        </p:sp>
        <p:sp>
          <p:nvSpPr>
            <p:cNvPr name="TextBox 104" id="104"/>
            <p:cNvSpPr txBox="true"/>
            <p:nvPr/>
          </p:nvSpPr>
          <p:spPr>
            <a:xfrm rot="0">
              <a:off x="6093041"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40%</a:t>
              </a:r>
            </a:p>
          </p:txBody>
        </p:sp>
        <p:sp>
          <p:nvSpPr>
            <p:cNvPr name="TextBox 105" id="105"/>
            <p:cNvSpPr txBox="true"/>
            <p:nvPr/>
          </p:nvSpPr>
          <p:spPr>
            <a:xfrm rot="0">
              <a:off x="7082940"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30%</a:t>
              </a:r>
            </a:p>
          </p:txBody>
        </p:sp>
        <p:sp>
          <p:nvSpPr>
            <p:cNvPr name="TextBox 106" id="106"/>
            <p:cNvSpPr txBox="true"/>
            <p:nvPr/>
          </p:nvSpPr>
          <p:spPr>
            <a:xfrm rot="0">
              <a:off x="8072839"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20%</a:t>
              </a:r>
            </a:p>
          </p:txBody>
        </p:sp>
        <p:sp>
          <p:nvSpPr>
            <p:cNvPr name="TextBox 107" id="107"/>
            <p:cNvSpPr txBox="true"/>
            <p:nvPr/>
          </p:nvSpPr>
          <p:spPr>
            <a:xfrm rot="0">
              <a:off x="9121286" y="1199697"/>
              <a:ext cx="532374" cy="245322"/>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a:t>
              </a:r>
            </a:p>
          </p:txBody>
        </p:sp>
      </p:grpSp>
      <p:sp>
        <p:nvSpPr>
          <p:cNvPr name="TextBox 108" id="108"/>
          <p:cNvSpPr txBox="true"/>
          <p:nvPr/>
        </p:nvSpPr>
        <p:spPr>
          <a:xfrm rot="0">
            <a:off x="9885215" y="5732334"/>
            <a:ext cx="47291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100%</a:t>
            </a:r>
          </a:p>
        </p:txBody>
      </p:sp>
      <p:sp>
        <p:nvSpPr>
          <p:cNvPr name="TextBox 109" id="109"/>
          <p:cNvSpPr txBox="true"/>
          <p:nvPr/>
        </p:nvSpPr>
        <p:spPr>
          <a:xfrm rot="0">
            <a:off x="10665025"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90%</a:t>
            </a:r>
          </a:p>
        </p:txBody>
      </p:sp>
      <p:sp>
        <p:nvSpPr>
          <p:cNvPr name="TextBox 110" id="110"/>
          <p:cNvSpPr txBox="true"/>
          <p:nvPr/>
        </p:nvSpPr>
        <p:spPr>
          <a:xfrm rot="0">
            <a:off x="11407146"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80%</a:t>
            </a:r>
          </a:p>
        </p:txBody>
      </p:sp>
      <p:sp>
        <p:nvSpPr>
          <p:cNvPr name="TextBox 111" id="111"/>
          <p:cNvSpPr txBox="true"/>
          <p:nvPr/>
        </p:nvSpPr>
        <p:spPr>
          <a:xfrm rot="0">
            <a:off x="12149267"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70%</a:t>
            </a:r>
          </a:p>
        </p:txBody>
      </p:sp>
      <p:sp>
        <p:nvSpPr>
          <p:cNvPr name="TextBox 112" id="112"/>
          <p:cNvSpPr txBox="true"/>
          <p:nvPr/>
        </p:nvSpPr>
        <p:spPr>
          <a:xfrm rot="0">
            <a:off x="12891691"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60%</a:t>
            </a:r>
          </a:p>
        </p:txBody>
      </p:sp>
      <p:sp>
        <p:nvSpPr>
          <p:cNvPr name="TextBox 113" id="113"/>
          <p:cNvSpPr txBox="true"/>
          <p:nvPr/>
        </p:nvSpPr>
        <p:spPr>
          <a:xfrm rot="0">
            <a:off x="13633508"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50%</a:t>
            </a:r>
          </a:p>
        </p:txBody>
      </p:sp>
      <p:sp>
        <p:nvSpPr>
          <p:cNvPr name="TextBox 114" id="114"/>
          <p:cNvSpPr txBox="true"/>
          <p:nvPr/>
        </p:nvSpPr>
        <p:spPr>
          <a:xfrm rot="0">
            <a:off x="14375629"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40%</a:t>
            </a:r>
          </a:p>
        </p:txBody>
      </p:sp>
      <p:sp>
        <p:nvSpPr>
          <p:cNvPr name="TextBox 115" id="115"/>
          <p:cNvSpPr txBox="true"/>
          <p:nvPr/>
        </p:nvSpPr>
        <p:spPr>
          <a:xfrm rot="0">
            <a:off x="15118053"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30%</a:t>
            </a:r>
          </a:p>
        </p:txBody>
      </p:sp>
      <p:sp>
        <p:nvSpPr>
          <p:cNvPr name="TextBox 116" id="116"/>
          <p:cNvSpPr txBox="true"/>
          <p:nvPr/>
        </p:nvSpPr>
        <p:spPr>
          <a:xfrm rot="0">
            <a:off x="15860477"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20%</a:t>
            </a:r>
          </a:p>
        </p:txBody>
      </p:sp>
      <p:sp>
        <p:nvSpPr>
          <p:cNvPr name="TextBox 117" id="117"/>
          <p:cNvSpPr txBox="true"/>
          <p:nvPr/>
        </p:nvSpPr>
        <p:spPr>
          <a:xfrm rot="0">
            <a:off x="16646813" y="5732334"/>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a:t>
            </a:r>
          </a:p>
        </p:txBody>
      </p:sp>
      <p:sp>
        <p:nvSpPr>
          <p:cNvPr name="TextBox 118" id="118"/>
          <p:cNvSpPr txBox="true"/>
          <p:nvPr/>
        </p:nvSpPr>
        <p:spPr>
          <a:xfrm rot="0">
            <a:off x="1230186" y="8219758"/>
            <a:ext cx="47291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100%</a:t>
            </a:r>
          </a:p>
        </p:txBody>
      </p:sp>
      <p:sp>
        <p:nvSpPr>
          <p:cNvPr name="TextBox 119" id="119"/>
          <p:cNvSpPr txBox="true"/>
          <p:nvPr/>
        </p:nvSpPr>
        <p:spPr>
          <a:xfrm rot="0">
            <a:off x="2009997"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90%</a:t>
            </a:r>
          </a:p>
        </p:txBody>
      </p:sp>
      <p:sp>
        <p:nvSpPr>
          <p:cNvPr name="TextBox 120" id="120"/>
          <p:cNvSpPr txBox="true"/>
          <p:nvPr/>
        </p:nvSpPr>
        <p:spPr>
          <a:xfrm rot="0">
            <a:off x="2752117"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80%</a:t>
            </a:r>
          </a:p>
        </p:txBody>
      </p:sp>
      <p:sp>
        <p:nvSpPr>
          <p:cNvPr name="TextBox 121" id="121"/>
          <p:cNvSpPr txBox="true"/>
          <p:nvPr/>
        </p:nvSpPr>
        <p:spPr>
          <a:xfrm rot="0">
            <a:off x="3494238"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70%</a:t>
            </a:r>
          </a:p>
        </p:txBody>
      </p:sp>
      <p:sp>
        <p:nvSpPr>
          <p:cNvPr name="TextBox 122" id="122"/>
          <p:cNvSpPr txBox="true"/>
          <p:nvPr/>
        </p:nvSpPr>
        <p:spPr>
          <a:xfrm rot="0">
            <a:off x="4236662"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60%</a:t>
            </a:r>
          </a:p>
        </p:txBody>
      </p:sp>
      <p:sp>
        <p:nvSpPr>
          <p:cNvPr name="TextBox 123" id="123"/>
          <p:cNvSpPr txBox="true"/>
          <p:nvPr/>
        </p:nvSpPr>
        <p:spPr>
          <a:xfrm rot="0">
            <a:off x="4978479"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50%</a:t>
            </a:r>
          </a:p>
        </p:txBody>
      </p:sp>
      <p:sp>
        <p:nvSpPr>
          <p:cNvPr name="TextBox 124" id="124"/>
          <p:cNvSpPr txBox="true"/>
          <p:nvPr/>
        </p:nvSpPr>
        <p:spPr>
          <a:xfrm rot="0">
            <a:off x="5720600"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40%</a:t>
            </a:r>
          </a:p>
        </p:txBody>
      </p:sp>
      <p:sp>
        <p:nvSpPr>
          <p:cNvPr name="TextBox 125" id="125"/>
          <p:cNvSpPr txBox="true"/>
          <p:nvPr/>
        </p:nvSpPr>
        <p:spPr>
          <a:xfrm rot="0">
            <a:off x="6463024"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30%</a:t>
            </a:r>
          </a:p>
        </p:txBody>
      </p:sp>
      <p:sp>
        <p:nvSpPr>
          <p:cNvPr name="TextBox 126" id="126"/>
          <p:cNvSpPr txBox="true"/>
          <p:nvPr/>
        </p:nvSpPr>
        <p:spPr>
          <a:xfrm rot="0">
            <a:off x="7205449"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20%</a:t>
            </a:r>
          </a:p>
        </p:txBody>
      </p:sp>
      <p:sp>
        <p:nvSpPr>
          <p:cNvPr name="TextBox 127" id="127"/>
          <p:cNvSpPr txBox="true"/>
          <p:nvPr/>
        </p:nvSpPr>
        <p:spPr>
          <a:xfrm rot="0">
            <a:off x="7991784" y="8219758"/>
            <a:ext cx="399281" cy="191135"/>
          </a:xfrm>
          <a:prstGeom prst="rect">
            <a:avLst/>
          </a:prstGeom>
        </p:spPr>
        <p:txBody>
          <a:bodyPr anchor="t" rtlCol="false" tIns="0" lIns="0" bIns="0" rIns="0">
            <a:spAutoFit/>
          </a:bodyPr>
          <a:lstStyle/>
          <a:p>
            <a:pPr algn="ctr">
              <a:lnSpc>
                <a:spcPts val="1539"/>
              </a:lnSpc>
            </a:pPr>
            <a:r>
              <a:rPr lang="en-US" sz="1099">
                <a:solidFill>
                  <a:srgbClr val="FFFFFF"/>
                </a:solidFill>
                <a:latin typeface="Inter"/>
                <a:ea typeface="Inter"/>
                <a:cs typeface="Inter"/>
                <a:sym typeface="Inter"/>
              </a:rPr>
              <a:t>10%</a:t>
            </a:r>
          </a:p>
        </p:txBody>
      </p:sp>
      <p:sp>
        <p:nvSpPr>
          <p:cNvPr name="TextBox 128" id="128"/>
          <p:cNvSpPr txBox="true"/>
          <p:nvPr/>
        </p:nvSpPr>
        <p:spPr>
          <a:xfrm rot="0">
            <a:off x="15626482" y="9583737"/>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grpSp>
        <p:nvGrpSpPr>
          <p:cNvPr name="Group 129" id="129"/>
          <p:cNvGrpSpPr/>
          <p:nvPr/>
        </p:nvGrpSpPr>
        <p:grpSpPr>
          <a:xfrm rot="0">
            <a:off x="9885215" y="7327129"/>
            <a:ext cx="631645" cy="824384"/>
            <a:chOff x="0" y="0"/>
            <a:chExt cx="338776" cy="442150"/>
          </a:xfrm>
        </p:grpSpPr>
        <p:sp>
          <p:nvSpPr>
            <p:cNvPr name="Freeform 130" id="130"/>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solidFill>
          </p:spPr>
        </p:sp>
        <p:sp>
          <p:nvSpPr>
            <p:cNvPr name="TextBox 131" id="131"/>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32" id="132"/>
          <p:cNvGrpSpPr/>
          <p:nvPr/>
        </p:nvGrpSpPr>
        <p:grpSpPr>
          <a:xfrm rot="0">
            <a:off x="10628210" y="7327129"/>
            <a:ext cx="631645" cy="824384"/>
            <a:chOff x="0" y="0"/>
            <a:chExt cx="338776" cy="442150"/>
          </a:xfrm>
        </p:grpSpPr>
        <p:sp>
          <p:nvSpPr>
            <p:cNvPr name="Freeform 133" id="133"/>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89804"/>
              </a:srgbClr>
            </a:solidFill>
          </p:spPr>
        </p:sp>
        <p:sp>
          <p:nvSpPr>
            <p:cNvPr name="TextBox 134" id="134"/>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35" id="135"/>
          <p:cNvGrpSpPr/>
          <p:nvPr/>
        </p:nvGrpSpPr>
        <p:grpSpPr>
          <a:xfrm rot="0">
            <a:off x="11370331" y="7327129"/>
            <a:ext cx="631645" cy="824384"/>
            <a:chOff x="0" y="0"/>
            <a:chExt cx="338776" cy="442150"/>
          </a:xfrm>
        </p:grpSpPr>
        <p:sp>
          <p:nvSpPr>
            <p:cNvPr name="Freeform 136" id="136"/>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80000"/>
              </a:srgbClr>
            </a:solidFill>
          </p:spPr>
        </p:sp>
        <p:sp>
          <p:nvSpPr>
            <p:cNvPr name="TextBox 137" id="137"/>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38" id="138"/>
          <p:cNvGrpSpPr/>
          <p:nvPr/>
        </p:nvGrpSpPr>
        <p:grpSpPr>
          <a:xfrm rot="0">
            <a:off x="12112452" y="7327129"/>
            <a:ext cx="631645" cy="824384"/>
            <a:chOff x="0" y="0"/>
            <a:chExt cx="338776" cy="442150"/>
          </a:xfrm>
        </p:grpSpPr>
        <p:sp>
          <p:nvSpPr>
            <p:cNvPr name="Freeform 139" id="139"/>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69804"/>
              </a:srgbClr>
            </a:solidFill>
          </p:spPr>
        </p:sp>
        <p:sp>
          <p:nvSpPr>
            <p:cNvPr name="TextBox 140" id="140"/>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41" id="141"/>
          <p:cNvGrpSpPr/>
          <p:nvPr/>
        </p:nvGrpSpPr>
        <p:grpSpPr>
          <a:xfrm rot="0">
            <a:off x="12854572" y="7327129"/>
            <a:ext cx="631645" cy="824384"/>
            <a:chOff x="0" y="0"/>
            <a:chExt cx="338776" cy="442150"/>
          </a:xfrm>
        </p:grpSpPr>
        <p:sp>
          <p:nvSpPr>
            <p:cNvPr name="Freeform 142" id="142"/>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60000"/>
              </a:srgbClr>
            </a:solidFill>
          </p:spPr>
        </p:sp>
        <p:sp>
          <p:nvSpPr>
            <p:cNvPr name="TextBox 143" id="143"/>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44" id="144"/>
          <p:cNvGrpSpPr/>
          <p:nvPr/>
        </p:nvGrpSpPr>
        <p:grpSpPr>
          <a:xfrm rot="0">
            <a:off x="13596693" y="7327129"/>
            <a:ext cx="631645" cy="824384"/>
            <a:chOff x="0" y="0"/>
            <a:chExt cx="338776" cy="442150"/>
          </a:xfrm>
        </p:grpSpPr>
        <p:sp>
          <p:nvSpPr>
            <p:cNvPr name="Freeform 145" id="145"/>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49804"/>
              </a:srgbClr>
            </a:solidFill>
          </p:spPr>
        </p:sp>
        <p:sp>
          <p:nvSpPr>
            <p:cNvPr name="TextBox 146" id="146"/>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47" id="147"/>
          <p:cNvGrpSpPr/>
          <p:nvPr/>
        </p:nvGrpSpPr>
        <p:grpSpPr>
          <a:xfrm rot="0">
            <a:off x="14338814" y="7327129"/>
            <a:ext cx="631645" cy="824384"/>
            <a:chOff x="0" y="0"/>
            <a:chExt cx="338776" cy="442150"/>
          </a:xfrm>
        </p:grpSpPr>
        <p:sp>
          <p:nvSpPr>
            <p:cNvPr name="Freeform 148" id="148"/>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40000"/>
              </a:srgbClr>
            </a:solidFill>
          </p:spPr>
        </p:sp>
        <p:sp>
          <p:nvSpPr>
            <p:cNvPr name="TextBox 149" id="149"/>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50" id="150"/>
          <p:cNvGrpSpPr/>
          <p:nvPr/>
        </p:nvGrpSpPr>
        <p:grpSpPr>
          <a:xfrm rot="0">
            <a:off x="15080305" y="7327129"/>
            <a:ext cx="631645" cy="824384"/>
            <a:chOff x="0" y="0"/>
            <a:chExt cx="338776" cy="442150"/>
          </a:xfrm>
        </p:grpSpPr>
        <p:sp>
          <p:nvSpPr>
            <p:cNvPr name="Freeform 151" id="151"/>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29804"/>
              </a:srgbClr>
            </a:solidFill>
          </p:spPr>
        </p:sp>
        <p:sp>
          <p:nvSpPr>
            <p:cNvPr name="TextBox 152" id="152"/>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53" id="153"/>
          <p:cNvGrpSpPr/>
          <p:nvPr/>
        </p:nvGrpSpPr>
        <p:grpSpPr>
          <a:xfrm rot="0">
            <a:off x="15821419" y="7327129"/>
            <a:ext cx="631645" cy="824384"/>
            <a:chOff x="0" y="0"/>
            <a:chExt cx="338776" cy="442150"/>
          </a:xfrm>
        </p:grpSpPr>
        <p:sp>
          <p:nvSpPr>
            <p:cNvPr name="Freeform 154" id="154"/>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19608"/>
              </a:srgbClr>
            </a:solidFill>
          </p:spPr>
        </p:sp>
        <p:sp>
          <p:nvSpPr>
            <p:cNvPr name="TextBox 155" id="155"/>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grpSp>
        <p:nvGrpSpPr>
          <p:cNvPr name="Group 156" id="156"/>
          <p:cNvGrpSpPr/>
          <p:nvPr/>
        </p:nvGrpSpPr>
        <p:grpSpPr>
          <a:xfrm rot="0">
            <a:off x="16562533" y="7327129"/>
            <a:ext cx="631645" cy="824384"/>
            <a:chOff x="0" y="0"/>
            <a:chExt cx="338776" cy="442150"/>
          </a:xfrm>
        </p:grpSpPr>
        <p:sp>
          <p:nvSpPr>
            <p:cNvPr name="Freeform 157" id="157"/>
            <p:cNvSpPr/>
            <p:nvPr/>
          </p:nvSpPr>
          <p:spPr>
            <a:xfrm flipH="false" flipV="false" rot="0">
              <a:off x="0" y="0"/>
              <a:ext cx="338776" cy="442150"/>
            </a:xfrm>
            <a:custGeom>
              <a:avLst/>
              <a:gdLst/>
              <a:ahLst/>
              <a:cxnLst/>
              <a:rect r="r" b="b" t="t" l="l"/>
              <a:pathLst>
                <a:path h="442150" w="338776">
                  <a:moveTo>
                    <a:pt x="169388" y="0"/>
                  </a:moveTo>
                  <a:lnTo>
                    <a:pt x="169388" y="0"/>
                  </a:lnTo>
                  <a:cubicBezTo>
                    <a:pt x="214313" y="0"/>
                    <a:pt x="257397" y="17846"/>
                    <a:pt x="289163" y="49613"/>
                  </a:cubicBezTo>
                  <a:cubicBezTo>
                    <a:pt x="320930" y="81379"/>
                    <a:pt x="338776" y="124464"/>
                    <a:pt x="338776" y="169388"/>
                  </a:cubicBezTo>
                  <a:lnTo>
                    <a:pt x="338776" y="272762"/>
                  </a:lnTo>
                  <a:cubicBezTo>
                    <a:pt x="338776" y="366312"/>
                    <a:pt x="262938" y="442150"/>
                    <a:pt x="169388" y="442150"/>
                  </a:cubicBezTo>
                  <a:lnTo>
                    <a:pt x="169388" y="442150"/>
                  </a:lnTo>
                  <a:cubicBezTo>
                    <a:pt x="75838" y="442150"/>
                    <a:pt x="0" y="366312"/>
                    <a:pt x="0" y="272762"/>
                  </a:cubicBezTo>
                  <a:lnTo>
                    <a:pt x="0" y="169388"/>
                  </a:lnTo>
                  <a:cubicBezTo>
                    <a:pt x="0" y="75838"/>
                    <a:pt x="75838" y="0"/>
                    <a:pt x="169388" y="0"/>
                  </a:cubicBezTo>
                  <a:close/>
                </a:path>
              </a:pathLst>
            </a:custGeom>
            <a:solidFill>
              <a:srgbClr val="F7FBFF">
                <a:alpha val="9804"/>
              </a:srgbClr>
            </a:solidFill>
          </p:spPr>
        </p:sp>
        <p:sp>
          <p:nvSpPr>
            <p:cNvPr name="TextBox 158" id="158"/>
            <p:cNvSpPr txBox="true"/>
            <p:nvPr/>
          </p:nvSpPr>
          <p:spPr>
            <a:xfrm>
              <a:off x="0" y="-47625"/>
              <a:ext cx="338776" cy="489775"/>
            </a:xfrm>
            <a:prstGeom prst="rect">
              <a:avLst/>
            </a:prstGeom>
          </p:spPr>
          <p:txBody>
            <a:bodyPr anchor="ctr" rtlCol="false" tIns="50800" lIns="50800" bIns="50800" rIns="50800"/>
            <a:lstStyle/>
            <a:p>
              <a:pPr algn="ctr">
                <a:lnSpc>
                  <a:spcPts val="3634"/>
                </a:lnSpc>
              </a:pPr>
            </a:p>
          </p:txBody>
        </p:sp>
      </p:grpSp>
      <p:sp>
        <p:nvSpPr>
          <p:cNvPr name="TextBox 159" id="159"/>
          <p:cNvSpPr txBox="true"/>
          <p:nvPr/>
        </p:nvSpPr>
        <p:spPr>
          <a:xfrm rot="0">
            <a:off x="9964582" y="8219758"/>
            <a:ext cx="47291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100%</a:t>
            </a:r>
          </a:p>
        </p:txBody>
      </p:sp>
      <p:sp>
        <p:nvSpPr>
          <p:cNvPr name="TextBox 160" id="160"/>
          <p:cNvSpPr txBox="true"/>
          <p:nvPr/>
        </p:nvSpPr>
        <p:spPr>
          <a:xfrm rot="0">
            <a:off x="10744393"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90%</a:t>
            </a:r>
          </a:p>
        </p:txBody>
      </p:sp>
      <p:sp>
        <p:nvSpPr>
          <p:cNvPr name="TextBox 161" id="161"/>
          <p:cNvSpPr txBox="true"/>
          <p:nvPr/>
        </p:nvSpPr>
        <p:spPr>
          <a:xfrm rot="0">
            <a:off x="11486513"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80%</a:t>
            </a:r>
          </a:p>
        </p:txBody>
      </p:sp>
      <p:sp>
        <p:nvSpPr>
          <p:cNvPr name="TextBox 162" id="162"/>
          <p:cNvSpPr txBox="true"/>
          <p:nvPr/>
        </p:nvSpPr>
        <p:spPr>
          <a:xfrm rot="0">
            <a:off x="12228634"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70%</a:t>
            </a:r>
          </a:p>
        </p:txBody>
      </p:sp>
      <p:sp>
        <p:nvSpPr>
          <p:cNvPr name="TextBox 163" id="163"/>
          <p:cNvSpPr txBox="true"/>
          <p:nvPr/>
        </p:nvSpPr>
        <p:spPr>
          <a:xfrm rot="0">
            <a:off x="12971058"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60%</a:t>
            </a:r>
          </a:p>
        </p:txBody>
      </p:sp>
      <p:sp>
        <p:nvSpPr>
          <p:cNvPr name="TextBox 164" id="164"/>
          <p:cNvSpPr txBox="true"/>
          <p:nvPr/>
        </p:nvSpPr>
        <p:spPr>
          <a:xfrm rot="0">
            <a:off x="13712875"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50%</a:t>
            </a:r>
          </a:p>
        </p:txBody>
      </p:sp>
      <p:sp>
        <p:nvSpPr>
          <p:cNvPr name="TextBox 165" id="165"/>
          <p:cNvSpPr txBox="true"/>
          <p:nvPr/>
        </p:nvSpPr>
        <p:spPr>
          <a:xfrm rot="0">
            <a:off x="14454996"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40%</a:t>
            </a:r>
          </a:p>
        </p:txBody>
      </p:sp>
      <p:sp>
        <p:nvSpPr>
          <p:cNvPr name="TextBox 166" id="166"/>
          <p:cNvSpPr txBox="true"/>
          <p:nvPr/>
        </p:nvSpPr>
        <p:spPr>
          <a:xfrm rot="0">
            <a:off x="15197420"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30%</a:t>
            </a:r>
          </a:p>
        </p:txBody>
      </p:sp>
      <p:sp>
        <p:nvSpPr>
          <p:cNvPr name="TextBox 167" id="167"/>
          <p:cNvSpPr txBox="true"/>
          <p:nvPr/>
        </p:nvSpPr>
        <p:spPr>
          <a:xfrm rot="0">
            <a:off x="15939845"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20%</a:t>
            </a:r>
          </a:p>
        </p:txBody>
      </p:sp>
      <p:sp>
        <p:nvSpPr>
          <p:cNvPr name="TextBox 168" id="168"/>
          <p:cNvSpPr txBox="true"/>
          <p:nvPr/>
        </p:nvSpPr>
        <p:spPr>
          <a:xfrm rot="0">
            <a:off x="16726180" y="8219758"/>
            <a:ext cx="399281" cy="191135"/>
          </a:xfrm>
          <a:prstGeom prst="rect">
            <a:avLst/>
          </a:prstGeom>
        </p:spPr>
        <p:txBody>
          <a:bodyPr anchor="t" rtlCol="false" tIns="0" lIns="0" bIns="0" rIns="0">
            <a:spAutoFit/>
          </a:bodyPr>
          <a:lstStyle/>
          <a:p>
            <a:pPr algn="ctr">
              <a:lnSpc>
                <a:spcPts val="1540"/>
              </a:lnSpc>
            </a:pPr>
            <a:r>
              <a:rPr lang="en-US" sz="1100">
                <a:solidFill>
                  <a:srgbClr val="FFFFFF"/>
                </a:solidFill>
                <a:latin typeface="Inter"/>
                <a:ea typeface="Inter"/>
                <a:cs typeface="Inter"/>
                <a:sym typeface="Inter"/>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sp>
        <p:nvSpPr>
          <p:cNvPr name="TextBox 2" id="2"/>
          <p:cNvSpPr txBox="true"/>
          <p:nvPr/>
        </p:nvSpPr>
        <p:spPr>
          <a:xfrm rot="0">
            <a:off x="845471" y="357188"/>
            <a:ext cx="13898848" cy="1948815"/>
          </a:xfrm>
          <a:prstGeom prst="rect">
            <a:avLst/>
          </a:prstGeom>
        </p:spPr>
        <p:txBody>
          <a:bodyPr anchor="t" rtlCol="false" tIns="0" lIns="0" bIns="0" rIns="0">
            <a:spAutoFit/>
          </a:bodyPr>
          <a:lstStyle/>
          <a:p>
            <a:pPr algn="l">
              <a:lnSpc>
                <a:spcPts val="15960"/>
              </a:lnSpc>
            </a:pPr>
            <a:r>
              <a:rPr lang="en-US" sz="11400">
                <a:solidFill>
                  <a:srgbClr val="FFFFFF"/>
                </a:solidFill>
                <a:latin typeface="Inter"/>
                <a:ea typeface="Inter"/>
                <a:cs typeface="Inter"/>
                <a:sym typeface="Inter"/>
              </a:rPr>
              <a:t>TYP</a:t>
            </a:r>
            <a:r>
              <a:rPr lang="en-US" sz="11400">
                <a:solidFill>
                  <a:srgbClr val="B9C85A"/>
                </a:solidFill>
                <a:latin typeface="Inter"/>
                <a:ea typeface="Inter"/>
                <a:cs typeface="Inter"/>
                <a:sym typeface="Inter"/>
              </a:rPr>
              <a:t>O</a:t>
            </a:r>
            <a:r>
              <a:rPr lang="en-US" sz="11400">
                <a:solidFill>
                  <a:srgbClr val="FFFFFF"/>
                </a:solidFill>
                <a:latin typeface="Inter"/>
                <a:ea typeface="Inter"/>
                <a:cs typeface="Inter"/>
                <a:sym typeface="Inter"/>
              </a:rPr>
              <a:t>GRAPHY</a:t>
            </a:r>
          </a:p>
        </p:txBody>
      </p:sp>
      <p:sp>
        <p:nvSpPr>
          <p:cNvPr name="TextBox 3" id="3"/>
          <p:cNvSpPr txBox="true"/>
          <p:nvPr/>
        </p:nvSpPr>
        <p:spPr>
          <a:xfrm rot="0">
            <a:off x="1028700" y="3150072"/>
            <a:ext cx="3831199" cy="496790"/>
          </a:xfrm>
          <a:prstGeom prst="rect">
            <a:avLst/>
          </a:prstGeom>
        </p:spPr>
        <p:txBody>
          <a:bodyPr anchor="t" rtlCol="false" tIns="0" lIns="0" bIns="0" rIns="0">
            <a:spAutoFit/>
          </a:bodyPr>
          <a:lstStyle/>
          <a:p>
            <a:pPr algn="l">
              <a:lnSpc>
                <a:spcPts val="4117"/>
              </a:lnSpc>
            </a:pPr>
            <a:r>
              <a:rPr lang="en-US" sz="2941">
                <a:solidFill>
                  <a:srgbClr val="FFFFFF"/>
                </a:solidFill>
                <a:latin typeface="Inter"/>
                <a:ea typeface="Inter"/>
                <a:cs typeface="Inter"/>
                <a:sym typeface="Inter"/>
              </a:rPr>
              <a:t>Primary Typeface</a:t>
            </a:r>
          </a:p>
        </p:txBody>
      </p:sp>
      <p:grpSp>
        <p:nvGrpSpPr>
          <p:cNvPr name="Group 4" id="4"/>
          <p:cNvGrpSpPr/>
          <p:nvPr/>
        </p:nvGrpSpPr>
        <p:grpSpPr>
          <a:xfrm rot="0">
            <a:off x="0" y="3980236"/>
            <a:ext cx="18288000" cy="3309662"/>
            <a:chOff x="0" y="0"/>
            <a:chExt cx="4416996" cy="799364"/>
          </a:xfrm>
        </p:grpSpPr>
        <p:sp>
          <p:nvSpPr>
            <p:cNvPr name="Freeform 5" id="5"/>
            <p:cNvSpPr/>
            <p:nvPr/>
          </p:nvSpPr>
          <p:spPr>
            <a:xfrm flipH="false" flipV="false" rot="0">
              <a:off x="0" y="0"/>
              <a:ext cx="4416996" cy="799364"/>
            </a:xfrm>
            <a:custGeom>
              <a:avLst/>
              <a:gdLst/>
              <a:ahLst/>
              <a:cxnLst/>
              <a:rect r="r" b="b" t="t" l="l"/>
              <a:pathLst>
                <a:path h="799364" w="4416996">
                  <a:moveTo>
                    <a:pt x="0" y="0"/>
                  </a:moveTo>
                  <a:lnTo>
                    <a:pt x="4416996" y="0"/>
                  </a:lnTo>
                  <a:lnTo>
                    <a:pt x="4416996" y="799364"/>
                  </a:lnTo>
                  <a:lnTo>
                    <a:pt x="0" y="799364"/>
                  </a:lnTo>
                  <a:close/>
                </a:path>
              </a:pathLst>
            </a:custGeom>
            <a:solidFill>
              <a:srgbClr val="140C3D"/>
            </a:solidFill>
          </p:spPr>
        </p:sp>
        <p:sp>
          <p:nvSpPr>
            <p:cNvPr name="TextBox 6" id="6"/>
            <p:cNvSpPr txBox="true"/>
            <p:nvPr/>
          </p:nvSpPr>
          <p:spPr>
            <a:xfrm>
              <a:off x="0" y="-47625"/>
              <a:ext cx="4416996" cy="846989"/>
            </a:xfrm>
            <a:prstGeom prst="rect">
              <a:avLst/>
            </a:prstGeom>
          </p:spPr>
          <p:txBody>
            <a:bodyPr anchor="ctr" rtlCol="false" tIns="50800" lIns="50800" bIns="50800" rIns="50800"/>
            <a:lstStyle/>
            <a:p>
              <a:pPr algn="ctr">
                <a:lnSpc>
                  <a:spcPts val="3634"/>
                </a:lnSpc>
              </a:pPr>
            </a:p>
          </p:txBody>
        </p:sp>
      </p:grpSp>
      <p:sp>
        <p:nvSpPr>
          <p:cNvPr name="TextBox 7" id="7"/>
          <p:cNvSpPr txBox="true"/>
          <p:nvPr/>
        </p:nvSpPr>
        <p:spPr>
          <a:xfrm rot="0">
            <a:off x="2150933" y="4166282"/>
            <a:ext cx="6305824" cy="416089"/>
          </a:xfrm>
          <a:prstGeom prst="rect">
            <a:avLst/>
          </a:prstGeom>
        </p:spPr>
        <p:txBody>
          <a:bodyPr anchor="t" rtlCol="false" tIns="0" lIns="0" bIns="0" rIns="0">
            <a:spAutoFit/>
          </a:bodyPr>
          <a:lstStyle/>
          <a:p>
            <a:pPr algn="just">
              <a:lnSpc>
                <a:spcPts val="3315"/>
              </a:lnSpc>
            </a:pPr>
            <a:r>
              <a:rPr lang="en-US" sz="2368">
                <a:solidFill>
                  <a:srgbClr val="FFFFFF"/>
                </a:solidFill>
                <a:latin typeface="Inter"/>
                <a:ea typeface="Inter"/>
                <a:cs typeface="Inter"/>
                <a:sym typeface="Inter"/>
              </a:rPr>
              <a:t>Inter regular</a:t>
            </a:r>
          </a:p>
        </p:txBody>
      </p:sp>
      <p:sp>
        <p:nvSpPr>
          <p:cNvPr name="TextBox 8" id="8"/>
          <p:cNvSpPr txBox="true"/>
          <p:nvPr/>
        </p:nvSpPr>
        <p:spPr>
          <a:xfrm rot="0">
            <a:off x="2150933" y="4788205"/>
            <a:ext cx="6169276" cy="2220706"/>
          </a:xfrm>
          <a:prstGeom prst="rect">
            <a:avLst/>
          </a:prstGeom>
        </p:spPr>
        <p:txBody>
          <a:bodyPr anchor="t" rtlCol="false" tIns="0" lIns="0" bIns="0" rIns="0">
            <a:spAutoFit/>
          </a:bodyPr>
          <a:lstStyle/>
          <a:p>
            <a:pPr algn="just">
              <a:lnSpc>
                <a:spcPts val="3598"/>
              </a:lnSpc>
            </a:pPr>
            <a:r>
              <a:rPr lang="en-US" sz="2570" spc="601">
                <a:solidFill>
                  <a:srgbClr val="FFFFFF"/>
                </a:solidFill>
                <a:latin typeface="Inter"/>
                <a:ea typeface="Inter"/>
                <a:cs typeface="Inter"/>
                <a:sym typeface="Inter"/>
              </a:rPr>
              <a:t>A B C D E F G H I J K L M N O P Q R S T U V W X Y Z </a:t>
            </a:r>
          </a:p>
          <a:p>
            <a:pPr algn="just">
              <a:lnSpc>
                <a:spcPts val="3598"/>
              </a:lnSpc>
            </a:pPr>
            <a:r>
              <a:rPr lang="en-US" sz="2570" spc="601">
                <a:solidFill>
                  <a:srgbClr val="FFFFFF"/>
                </a:solidFill>
                <a:latin typeface="Inter"/>
                <a:ea typeface="Inter"/>
                <a:cs typeface="Inter"/>
                <a:sym typeface="Inter"/>
              </a:rPr>
              <a:t>a b c d e f g h i j k l m n o p q r s t u v w x y z </a:t>
            </a:r>
          </a:p>
          <a:p>
            <a:pPr algn="just">
              <a:lnSpc>
                <a:spcPts val="3598"/>
              </a:lnSpc>
            </a:pPr>
            <a:r>
              <a:rPr lang="en-US" sz="2570" spc="601">
                <a:solidFill>
                  <a:srgbClr val="FFFFFF"/>
                </a:solidFill>
                <a:latin typeface="Inter"/>
                <a:ea typeface="Inter"/>
                <a:cs typeface="Inter"/>
                <a:sym typeface="Inter"/>
              </a:rPr>
              <a:t>1234567890 !@#$%^&amp;*()_+</a:t>
            </a:r>
          </a:p>
        </p:txBody>
      </p:sp>
      <p:sp>
        <p:nvSpPr>
          <p:cNvPr name="TextBox 9" id="9"/>
          <p:cNvSpPr txBox="true"/>
          <p:nvPr/>
        </p:nvSpPr>
        <p:spPr>
          <a:xfrm rot="0">
            <a:off x="9967912" y="4152793"/>
            <a:ext cx="6305824" cy="412575"/>
          </a:xfrm>
          <a:prstGeom prst="rect">
            <a:avLst/>
          </a:prstGeom>
        </p:spPr>
        <p:txBody>
          <a:bodyPr anchor="t" rtlCol="false" tIns="0" lIns="0" bIns="0" rIns="0">
            <a:spAutoFit/>
          </a:bodyPr>
          <a:lstStyle/>
          <a:p>
            <a:pPr algn="just">
              <a:lnSpc>
                <a:spcPts val="3315"/>
              </a:lnSpc>
            </a:pPr>
            <a:r>
              <a:rPr lang="en-US" sz="2368" b="true">
                <a:solidFill>
                  <a:srgbClr val="FFFFFF"/>
                </a:solidFill>
                <a:latin typeface="Inter Bold"/>
                <a:ea typeface="Inter Bold"/>
                <a:cs typeface="Inter Bold"/>
                <a:sym typeface="Inter Bold"/>
              </a:rPr>
              <a:t>Inter Weighted</a:t>
            </a:r>
          </a:p>
        </p:txBody>
      </p:sp>
      <p:sp>
        <p:nvSpPr>
          <p:cNvPr name="TextBox 10" id="10"/>
          <p:cNvSpPr txBox="true"/>
          <p:nvPr/>
        </p:nvSpPr>
        <p:spPr>
          <a:xfrm rot="0">
            <a:off x="9967912" y="4774716"/>
            <a:ext cx="6843898" cy="2220706"/>
          </a:xfrm>
          <a:prstGeom prst="rect">
            <a:avLst/>
          </a:prstGeom>
        </p:spPr>
        <p:txBody>
          <a:bodyPr anchor="t" rtlCol="false" tIns="0" lIns="0" bIns="0" rIns="0">
            <a:spAutoFit/>
          </a:bodyPr>
          <a:lstStyle/>
          <a:p>
            <a:pPr algn="just">
              <a:lnSpc>
                <a:spcPts val="3598"/>
              </a:lnSpc>
            </a:pPr>
            <a:r>
              <a:rPr lang="en-US" b="true" sz="2570" spc="601">
                <a:solidFill>
                  <a:srgbClr val="FFFFFF"/>
                </a:solidFill>
                <a:latin typeface="Inter Semi-Bold"/>
                <a:ea typeface="Inter Semi-Bold"/>
                <a:cs typeface="Inter Semi-Bold"/>
                <a:sym typeface="Inter Semi-Bold"/>
              </a:rPr>
              <a:t>A B C D E F G H I J K L M N O P Q R S T U V W X Y Z </a:t>
            </a:r>
          </a:p>
          <a:p>
            <a:pPr algn="just">
              <a:lnSpc>
                <a:spcPts val="3598"/>
              </a:lnSpc>
            </a:pPr>
            <a:r>
              <a:rPr lang="en-US" b="true" sz="2570" spc="601">
                <a:solidFill>
                  <a:srgbClr val="FFFFFF"/>
                </a:solidFill>
                <a:latin typeface="Inter Semi-Bold"/>
                <a:ea typeface="Inter Semi-Bold"/>
                <a:cs typeface="Inter Semi-Bold"/>
                <a:sym typeface="Inter Semi-Bold"/>
              </a:rPr>
              <a:t>a b c d e f g h i j k l m n o p q r s t u v w x y z </a:t>
            </a:r>
          </a:p>
          <a:p>
            <a:pPr algn="just">
              <a:lnSpc>
                <a:spcPts val="3598"/>
              </a:lnSpc>
            </a:pPr>
            <a:r>
              <a:rPr lang="en-US" b="true" sz="2570" spc="601">
                <a:solidFill>
                  <a:srgbClr val="FFFFFF"/>
                </a:solidFill>
                <a:latin typeface="Inter Semi-Bold"/>
                <a:ea typeface="Inter Semi-Bold"/>
                <a:cs typeface="Inter Semi-Bold"/>
                <a:sym typeface="Inter Semi-Bold"/>
              </a:rPr>
              <a:t>1234567890 !@#$%^&amp;*()_+</a:t>
            </a:r>
          </a:p>
        </p:txBody>
      </p:sp>
      <p:sp>
        <p:nvSpPr>
          <p:cNvPr name="TextBox 11" id="11"/>
          <p:cNvSpPr txBox="true"/>
          <p:nvPr/>
        </p:nvSpPr>
        <p:spPr>
          <a:xfrm rot="0">
            <a:off x="1028700" y="7794723"/>
            <a:ext cx="3411321" cy="496790"/>
          </a:xfrm>
          <a:prstGeom prst="rect">
            <a:avLst/>
          </a:prstGeom>
        </p:spPr>
        <p:txBody>
          <a:bodyPr anchor="t" rtlCol="false" tIns="0" lIns="0" bIns="0" rIns="0">
            <a:spAutoFit/>
          </a:bodyPr>
          <a:lstStyle/>
          <a:p>
            <a:pPr algn="l">
              <a:lnSpc>
                <a:spcPts val="4117"/>
              </a:lnSpc>
            </a:pPr>
            <a:r>
              <a:rPr lang="en-US" sz="2941">
                <a:solidFill>
                  <a:srgbClr val="FFFFFF"/>
                </a:solidFill>
                <a:latin typeface="Inter"/>
                <a:ea typeface="Inter"/>
                <a:cs typeface="Inter"/>
                <a:sym typeface="Inter"/>
              </a:rPr>
              <a:t>Typography Style</a:t>
            </a:r>
          </a:p>
        </p:txBody>
      </p:sp>
      <p:sp>
        <p:nvSpPr>
          <p:cNvPr name="TextBox 12" id="12"/>
          <p:cNvSpPr txBox="true"/>
          <p:nvPr/>
        </p:nvSpPr>
        <p:spPr>
          <a:xfrm rot="0">
            <a:off x="1028700" y="8575748"/>
            <a:ext cx="14154539" cy="323215"/>
          </a:xfrm>
          <a:prstGeom prst="rect">
            <a:avLst/>
          </a:prstGeom>
        </p:spPr>
        <p:txBody>
          <a:bodyPr anchor="t" rtlCol="false" tIns="0" lIns="0" bIns="0" rIns="0">
            <a:spAutoFit/>
          </a:bodyPr>
          <a:lstStyle/>
          <a:p>
            <a:pPr algn="just">
              <a:lnSpc>
                <a:spcPts val="2659"/>
              </a:lnSpc>
            </a:pPr>
            <a:r>
              <a:rPr lang="en-US" sz="1899">
                <a:solidFill>
                  <a:srgbClr val="FFFFFF"/>
                </a:solidFill>
                <a:latin typeface="Inter"/>
                <a:ea typeface="Inter"/>
                <a:cs typeface="Inter"/>
                <a:sym typeface="Inter"/>
              </a:rPr>
              <a:t>CavB</a:t>
            </a:r>
            <a:r>
              <a:rPr lang="en-US" sz="1899">
                <a:solidFill>
                  <a:srgbClr val="FFFFFF"/>
                </a:solidFill>
                <a:latin typeface="Inter"/>
                <a:ea typeface="Inter"/>
                <a:cs typeface="Inter"/>
                <a:sym typeface="Inter"/>
              </a:rPr>
              <a:t>ot’s type system stays deliberately sim</a:t>
            </a:r>
            <a:r>
              <a:rPr lang="en-US" sz="1899">
                <a:solidFill>
                  <a:srgbClr val="FFFFFF"/>
                </a:solidFill>
                <a:latin typeface="Inter"/>
                <a:ea typeface="Inter"/>
                <a:cs typeface="Inter"/>
                <a:sym typeface="Inter"/>
              </a:rPr>
              <a:t>ple: Inter for everything. Personality comes from spacing, casing, and control.</a:t>
            </a:r>
          </a:p>
        </p:txBody>
      </p:sp>
      <p:sp>
        <p:nvSpPr>
          <p:cNvPr name="AutoShape 13" id="13"/>
          <p:cNvSpPr/>
          <p:nvPr/>
        </p:nvSpPr>
        <p:spPr>
          <a:xfrm>
            <a:off x="0" y="2758440"/>
            <a:ext cx="18288000" cy="0"/>
          </a:xfrm>
          <a:prstGeom prst="line">
            <a:avLst/>
          </a:prstGeom>
          <a:ln cap="flat" w="9525">
            <a:solidFill>
              <a:srgbClr val="F7FBFF">
                <a:alpha val="69804"/>
              </a:srgbClr>
            </a:solidFill>
            <a:prstDash val="solid"/>
            <a:headEnd type="none" len="sm" w="sm"/>
            <a:tailEnd type="none" len="sm" w="sm"/>
          </a:ln>
        </p:spPr>
      </p:sp>
      <p:sp>
        <p:nvSpPr>
          <p:cNvPr name="AutoShape 14" id="14"/>
          <p:cNvSpPr/>
          <p:nvPr/>
        </p:nvSpPr>
        <p:spPr>
          <a:xfrm>
            <a:off x="9144000" y="4387656"/>
            <a:ext cx="0" cy="2483284"/>
          </a:xfrm>
          <a:prstGeom prst="line">
            <a:avLst/>
          </a:prstGeom>
          <a:ln cap="flat" w="9525">
            <a:solidFill>
              <a:srgbClr val="F7FBFF">
                <a:alpha val="69804"/>
              </a:srgbClr>
            </a:solidFill>
            <a:prstDash val="solid"/>
            <a:headEnd type="none" len="sm" w="sm"/>
            <a:tailEnd type="none" len="sm" w="sm"/>
          </a:ln>
        </p:spPr>
      </p:sp>
      <p:sp>
        <p:nvSpPr>
          <p:cNvPr name="AutoShape 15" id="15"/>
          <p:cNvSpPr/>
          <p:nvPr/>
        </p:nvSpPr>
        <p:spPr>
          <a:xfrm>
            <a:off x="0" y="9535156"/>
            <a:ext cx="18288000" cy="0"/>
          </a:xfrm>
          <a:prstGeom prst="line">
            <a:avLst/>
          </a:prstGeom>
          <a:ln cap="flat" w="9525">
            <a:solidFill>
              <a:srgbClr val="F7FBFF">
                <a:alpha val="69804"/>
              </a:srgbClr>
            </a:solidFill>
            <a:prstDash val="solid"/>
            <a:headEnd type="none" len="sm" w="sm"/>
            <a:tailEnd type="none" len="sm" w="sm"/>
          </a:ln>
        </p:spPr>
      </p:sp>
      <p:sp>
        <p:nvSpPr>
          <p:cNvPr name="TextBox 16" id="16"/>
          <p:cNvSpPr txBox="true"/>
          <p:nvPr/>
        </p:nvSpPr>
        <p:spPr>
          <a:xfrm rot="0">
            <a:off x="15626482" y="9649456"/>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17" id="17"/>
          <p:cNvSpPr/>
          <p:nvPr/>
        </p:nvSpPr>
        <p:spPr>
          <a:xfrm flipH="false" flipV="false" rot="1646178">
            <a:off x="318918" y="6443629"/>
            <a:ext cx="437806" cy="492094"/>
          </a:xfrm>
          <a:custGeom>
            <a:avLst/>
            <a:gdLst/>
            <a:ahLst/>
            <a:cxnLst/>
            <a:rect r="r" b="b" t="t" l="l"/>
            <a:pathLst>
              <a:path h="492094" w="437806">
                <a:moveTo>
                  <a:pt x="0" y="0"/>
                </a:moveTo>
                <a:lnTo>
                  <a:pt x="437806" y="0"/>
                </a:lnTo>
                <a:lnTo>
                  <a:pt x="437806" y="492094"/>
                </a:lnTo>
                <a:lnTo>
                  <a:pt x="0" y="492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0C3D"/>
        </a:solidFill>
      </p:bgPr>
    </p:bg>
    <p:spTree>
      <p:nvGrpSpPr>
        <p:cNvPr id="1" name=""/>
        <p:cNvGrpSpPr/>
        <p:nvPr/>
      </p:nvGrpSpPr>
      <p:grpSpPr>
        <a:xfrm>
          <a:off x="0" y="0"/>
          <a:ext cx="0" cy="0"/>
          <a:chOff x="0" y="0"/>
          <a:chExt cx="0" cy="0"/>
        </a:xfrm>
      </p:grpSpPr>
      <p:sp>
        <p:nvSpPr>
          <p:cNvPr name="Freeform 2" id="2"/>
          <p:cNvSpPr/>
          <p:nvPr/>
        </p:nvSpPr>
        <p:spPr>
          <a:xfrm flipH="false" flipV="false" rot="0">
            <a:off x="12561458" y="0"/>
            <a:ext cx="5726542" cy="10287000"/>
          </a:xfrm>
          <a:custGeom>
            <a:avLst/>
            <a:gdLst/>
            <a:ahLst/>
            <a:cxnLst/>
            <a:rect r="r" b="b" t="t" l="l"/>
            <a:pathLst>
              <a:path h="10287000" w="5726542">
                <a:moveTo>
                  <a:pt x="0" y="0"/>
                </a:moveTo>
                <a:lnTo>
                  <a:pt x="5726542" y="0"/>
                </a:lnTo>
                <a:lnTo>
                  <a:pt x="5726542" y="10287000"/>
                </a:lnTo>
                <a:lnTo>
                  <a:pt x="0" y="10287000"/>
                </a:lnTo>
                <a:lnTo>
                  <a:pt x="0" y="0"/>
                </a:lnTo>
                <a:close/>
              </a:path>
            </a:pathLst>
          </a:custGeom>
          <a:blipFill>
            <a:blip r:embed="rId2"/>
            <a:stretch>
              <a:fillRect l="-90299" t="0" r="-79647" b="0"/>
            </a:stretch>
          </a:blipFill>
        </p:spPr>
      </p:sp>
      <p:grpSp>
        <p:nvGrpSpPr>
          <p:cNvPr name="Group 3" id="3"/>
          <p:cNvGrpSpPr/>
          <p:nvPr/>
        </p:nvGrpSpPr>
        <p:grpSpPr>
          <a:xfrm rot="0">
            <a:off x="5458295" y="7804333"/>
            <a:ext cx="3131524" cy="2193838"/>
            <a:chOff x="0" y="0"/>
            <a:chExt cx="4175365" cy="2925117"/>
          </a:xfrm>
        </p:grpSpPr>
        <p:sp>
          <p:nvSpPr>
            <p:cNvPr name="Freeform 4" id="4"/>
            <p:cNvSpPr/>
            <p:nvPr/>
          </p:nvSpPr>
          <p:spPr>
            <a:xfrm flipH="false" flipV="false" rot="0">
              <a:off x="28804" y="108968"/>
              <a:ext cx="4045191" cy="2816149"/>
            </a:xfrm>
            <a:custGeom>
              <a:avLst/>
              <a:gdLst/>
              <a:ahLst/>
              <a:cxnLst/>
              <a:rect r="r" b="b" t="t" l="l"/>
              <a:pathLst>
                <a:path h="2816149" w="4045191">
                  <a:moveTo>
                    <a:pt x="0" y="0"/>
                  </a:moveTo>
                  <a:lnTo>
                    <a:pt x="4045191" y="0"/>
                  </a:lnTo>
                  <a:lnTo>
                    <a:pt x="4045191" y="2816149"/>
                  </a:lnTo>
                  <a:lnTo>
                    <a:pt x="0" y="2816149"/>
                  </a:lnTo>
                  <a:lnTo>
                    <a:pt x="0" y="0"/>
                  </a:lnTo>
                  <a:close/>
                </a:path>
              </a:pathLst>
            </a:custGeom>
            <a:blipFill>
              <a:blip r:embed="rId3"/>
              <a:stretch>
                <a:fillRect l="-2308" t="0" r="-2308" b="0"/>
              </a:stretch>
            </a:blipFill>
          </p:spPr>
        </p:sp>
        <p:sp>
          <p:nvSpPr>
            <p:cNvPr name="Freeform 5" id="5"/>
            <p:cNvSpPr/>
            <p:nvPr/>
          </p:nvSpPr>
          <p:spPr>
            <a:xfrm flipH="false" flipV="false" rot="0">
              <a:off x="0" y="0"/>
              <a:ext cx="4175365" cy="2886221"/>
            </a:xfrm>
            <a:custGeom>
              <a:avLst/>
              <a:gdLst/>
              <a:ahLst/>
              <a:cxnLst/>
              <a:rect r="r" b="b" t="t" l="l"/>
              <a:pathLst>
                <a:path h="2886221" w="4175365">
                  <a:moveTo>
                    <a:pt x="0" y="0"/>
                  </a:moveTo>
                  <a:lnTo>
                    <a:pt x="4175365" y="0"/>
                  </a:lnTo>
                  <a:lnTo>
                    <a:pt x="4175365" y="2886221"/>
                  </a:lnTo>
                  <a:lnTo>
                    <a:pt x="0" y="28862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6" id="6"/>
          <p:cNvGrpSpPr/>
          <p:nvPr/>
        </p:nvGrpSpPr>
        <p:grpSpPr>
          <a:xfrm rot="0">
            <a:off x="510069" y="6810049"/>
            <a:ext cx="4617470" cy="3191826"/>
            <a:chOff x="0" y="0"/>
            <a:chExt cx="6156627" cy="4255769"/>
          </a:xfrm>
        </p:grpSpPr>
        <p:sp>
          <p:nvSpPr>
            <p:cNvPr name="Freeform 7" id="7"/>
            <p:cNvSpPr/>
            <p:nvPr/>
          </p:nvSpPr>
          <p:spPr>
            <a:xfrm flipH="false" flipV="false" rot="0">
              <a:off x="67623" y="68146"/>
              <a:ext cx="5929853" cy="4128198"/>
            </a:xfrm>
            <a:custGeom>
              <a:avLst/>
              <a:gdLst/>
              <a:ahLst/>
              <a:cxnLst/>
              <a:rect r="r" b="b" t="t" l="l"/>
              <a:pathLst>
                <a:path h="4128198" w="5929853">
                  <a:moveTo>
                    <a:pt x="0" y="0"/>
                  </a:moveTo>
                  <a:lnTo>
                    <a:pt x="5929854" y="0"/>
                  </a:lnTo>
                  <a:lnTo>
                    <a:pt x="5929854" y="4128198"/>
                  </a:lnTo>
                  <a:lnTo>
                    <a:pt x="0" y="4128198"/>
                  </a:lnTo>
                  <a:lnTo>
                    <a:pt x="0" y="0"/>
                  </a:lnTo>
                  <a:close/>
                </a:path>
              </a:pathLst>
            </a:custGeom>
            <a:blipFill>
              <a:blip r:embed="rId6"/>
              <a:stretch>
                <a:fillRect l="-2308" t="0" r="-2308" b="0"/>
              </a:stretch>
            </a:blipFill>
          </p:spPr>
        </p:sp>
        <p:sp>
          <p:nvSpPr>
            <p:cNvPr name="Freeform 8" id="8"/>
            <p:cNvSpPr/>
            <p:nvPr/>
          </p:nvSpPr>
          <p:spPr>
            <a:xfrm flipH="false" flipV="false" rot="0">
              <a:off x="0" y="0"/>
              <a:ext cx="6156627" cy="4255769"/>
            </a:xfrm>
            <a:custGeom>
              <a:avLst/>
              <a:gdLst/>
              <a:ahLst/>
              <a:cxnLst/>
              <a:rect r="r" b="b" t="t" l="l"/>
              <a:pathLst>
                <a:path h="4255769" w="6156627">
                  <a:moveTo>
                    <a:pt x="0" y="0"/>
                  </a:moveTo>
                  <a:lnTo>
                    <a:pt x="6156627" y="0"/>
                  </a:lnTo>
                  <a:lnTo>
                    <a:pt x="6156627" y="4255769"/>
                  </a:lnTo>
                  <a:lnTo>
                    <a:pt x="0" y="4255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9" id="9"/>
          <p:cNvGrpSpPr/>
          <p:nvPr/>
        </p:nvGrpSpPr>
        <p:grpSpPr>
          <a:xfrm rot="0">
            <a:off x="8920575" y="7845196"/>
            <a:ext cx="3055496" cy="2112112"/>
            <a:chOff x="0" y="0"/>
            <a:chExt cx="4073995" cy="2816149"/>
          </a:xfrm>
        </p:grpSpPr>
        <p:sp>
          <p:nvSpPr>
            <p:cNvPr name="Freeform 10" id="10"/>
            <p:cNvSpPr/>
            <p:nvPr/>
          </p:nvSpPr>
          <p:spPr>
            <a:xfrm flipH="false" flipV="false" rot="0">
              <a:off x="28804" y="0"/>
              <a:ext cx="4045191" cy="2816149"/>
            </a:xfrm>
            <a:custGeom>
              <a:avLst/>
              <a:gdLst/>
              <a:ahLst/>
              <a:cxnLst/>
              <a:rect r="r" b="b" t="t" l="l"/>
              <a:pathLst>
                <a:path h="2816149" w="4045191">
                  <a:moveTo>
                    <a:pt x="0" y="0"/>
                  </a:moveTo>
                  <a:lnTo>
                    <a:pt x="4045191" y="0"/>
                  </a:lnTo>
                  <a:lnTo>
                    <a:pt x="4045191" y="2816149"/>
                  </a:lnTo>
                  <a:lnTo>
                    <a:pt x="0" y="2816149"/>
                  </a:lnTo>
                  <a:lnTo>
                    <a:pt x="0" y="0"/>
                  </a:lnTo>
                  <a:close/>
                </a:path>
              </a:pathLst>
            </a:custGeom>
            <a:blipFill>
              <a:blip r:embed="rId7"/>
              <a:stretch>
                <a:fillRect l="-2308" t="0" r="-2308" b="0"/>
              </a:stretch>
            </a:blipFill>
          </p:spPr>
        </p:sp>
        <p:sp>
          <p:nvSpPr>
            <p:cNvPr name="Freeform 11" id="11"/>
            <p:cNvSpPr/>
            <p:nvPr/>
          </p:nvSpPr>
          <p:spPr>
            <a:xfrm flipH="false" flipV="false" rot="0">
              <a:off x="0" y="0"/>
              <a:ext cx="4073995" cy="2816149"/>
            </a:xfrm>
            <a:custGeom>
              <a:avLst/>
              <a:gdLst/>
              <a:ahLst/>
              <a:cxnLst/>
              <a:rect r="r" b="b" t="t" l="l"/>
              <a:pathLst>
                <a:path h="2816149" w="4073995">
                  <a:moveTo>
                    <a:pt x="0" y="0"/>
                  </a:moveTo>
                  <a:lnTo>
                    <a:pt x="4073995" y="0"/>
                  </a:lnTo>
                  <a:lnTo>
                    <a:pt x="4073995" y="2816149"/>
                  </a:lnTo>
                  <a:lnTo>
                    <a:pt x="0" y="28161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2" id="12"/>
          <p:cNvSpPr/>
          <p:nvPr/>
        </p:nvSpPr>
        <p:spPr>
          <a:xfrm flipH="false" flipV="false" rot="0">
            <a:off x="17716551" y="9569271"/>
            <a:ext cx="571449" cy="717729"/>
          </a:xfrm>
          <a:custGeom>
            <a:avLst/>
            <a:gdLst/>
            <a:ahLst/>
            <a:cxnLst/>
            <a:rect r="r" b="b" t="t" l="l"/>
            <a:pathLst>
              <a:path h="717729" w="571449">
                <a:moveTo>
                  <a:pt x="0" y="0"/>
                </a:moveTo>
                <a:lnTo>
                  <a:pt x="571449" y="0"/>
                </a:lnTo>
                <a:lnTo>
                  <a:pt x="571449" y="717729"/>
                </a:lnTo>
                <a:lnTo>
                  <a:pt x="0" y="717729"/>
                </a:lnTo>
                <a:lnTo>
                  <a:pt x="0" y="0"/>
                </a:lnTo>
                <a:close/>
              </a:path>
            </a:pathLst>
          </a:custGeom>
          <a:blipFill>
            <a:blip r:embed="rId8"/>
            <a:stretch>
              <a:fillRect l="-132969" t="-18352" r="-125496" b="-24470"/>
            </a:stretch>
          </a:blipFill>
        </p:spPr>
      </p:sp>
      <p:sp>
        <p:nvSpPr>
          <p:cNvPr name="TextBox 13" id="13"/>
          <p:cNvSpPr txBox="true"/>
          <p:nvPr/>
        </p:nvSpPr>
        <p:spPr>
          <a:xfrm rot="0">
            <a:off x="1028700" y="523554"/>
            <a:ext cx="10047903" cy="1948815"/>
          </a:xfrm>
          <a:prstGeom prst="rect">
            <a:avLst/>
          </a:prstGeom>
        </p:spPr>
        <p:txBody>
          <a:bodyPr anchor="t" rtlCol="false" tIns="0" lIns="0" bIns="0" rIns="0">
            <a:spAutoFit/>
          </a:bodyPr>
          <a:lstStyle/>
          <a:p>
            <a:pPr algn="l">
              <a:lnSpc>
                <a:spcPts val="15960"/>
              </a:lnSpc>
            </a:pPr>
            <a:r>
              <a:rPr lang="en-US" sz="11400">
                <a:solidFill>
                  <a:srgbClr val="FFFFFF"/>
                </a:solidFill>
                <a:latin typeface="Inter"/>
                <a:ea typeface="Inter"/>
                <a:cs typeface="Inter"/>
                <a:sym typeface="Inter"/>
              </a:rPr>
              <a:t>VISUAL STYLE</a:t>
            </a:r>
          </a:p>
        </p:txBody>
      </p:sp>
      <p:sp>
        <p:nvSpPr>
          <p:cNvPr name="TextBox 14" id="14"/>
          <p:cNvSpPr txBox="true"/>
          <p:nvPr/>
        </p:nvSpPr>
        <p:spPr>
          <a:xfrm rot="0">
            <a:off x="1028700" y="3348669"/>
            <a:ext cx="6290470" cy="645380"/>
          </a:xfrm>
          <a:prstGeom prst="rect">
            <a:avLst/>
          </a:prstGeom>
        </p:spPr>
        <p:txBody>
          <a:bodyPr anchor="t" rtlCol="false" tIns="0" lIns="0" bIns="0" rIns="0">
            <a:spAutoFit/>
          </a:bodyPr>
          <a:lstStyle/>
          <a:p>
            <a:pPr algn="l">
              <a:lnSpc>
                <a:spcPts val="5377"/>
              </a:lnSpc>
            </a:pPr>
            <a:r>
              <a:rPr lang="en-US" sz="3841">
                <a:solidFill>
                  <a:srgbClr val="FFFFFF"/>
                </a:solidFill>
                <a:latin typeface="Inter"/>
                <a:ea typeface="Inter"/>
                <a:cs typeface="Inter"/>
                <a:sym typeface="Inter"/>
              </a:rPr>
              <a:t>Photography &amp; Graphics</a:t>
            </a:r>
          </a:p>
        </p:txBody>
      </p:sp>
      <p:sp>
        <p:nvSpPr>
          <p:cNvPr name="TextBox 15" id="15"/>
          <p:cNvSpPr txBox="true"/>
          <p:nvPr/>
        </p:nvSpPr>
        <p:spPr>
          <a:xfrm rot="0">
            <a:off x="1028700" y="4470074"/>
            <a:ext cx="5254439" cy="1397000"/>
          </a:xfrm>
          <a:prstGeom prst="rect">
            <a:avLst/>
          </a:prstGeom>
        </p:spPr>
        <p:txBody>
          <a:bodyPr anchor="t" rtlCol="false" tIns="0" lIns="0" bIns="0" rIns="0">
            <a:spAutoFit/>
          </a:bodyPr>
          <a:lstStyle/>
          <a:p>
            <a:pPr algn="l">
              <a:lnSpc>
                <a:spcPts val="2799"/>
              </a:lnSpc>
            </a:pPr>
            <a:r>
              <a:rPr lang="en-US" sz="1999">
                <a:solidFill>
                  <a:srgbClr val="FFFFFF"/>
                </a:solidFill>
                <a:latin typeface="Inter"/>
                <a:ea typeface="Inter"/>
                <a:cs typeface="Inter"/>
                <a:sym typeface="Inter"/>
              </a:rPr>
              <a:t>Use focused, interface-led imagery with subtle robotics and control-room environments. Avoid cartoonish robots, heavy filterrs, or cluttered sci-fi effects.</a:t>
            </a:r>
          </a:p>
        </p:txBody>
      </p:sp>
      <p:sp>
        <p:nvSpPr>
          <p:cNvPr name="TextBox 16" id="16"/>
          <p:cNvSpPr txBox="true"/>
          <p:nvPr/>
        </p:nvSpPr>
        <p:spPr>
          <a:xfrm rot="0">
            <a:off x="5347063" y="5511047"/>
            <a:ext cx="6290470" cy="645380"/>
          </a:xfrm>
          <a:prstGeom prst="rect">
            <a:avLst/>
          </a:prstGeom>
        </p:spPr>
        <p:txBody>
          <a:bodyPr anchor="t" rtlCol="false" tIns="0" lIns="0" bIns="0" rIns="0">
            <a:spAutoFit/>
          </a:bodyPr>
          <a:lstStyle/>
          <a:p>
            <a:pPr algn="r">
              <a:lnSpc>
                <a:spcPts val="5377"/>
              </a:lnSpc>
            </a:pPr>
            <a:r>
              <a:rPr lang="en-US" b="true" sz="3841">
                <a:solidFill>
                  <a:srgbClr val="FFFFFF"/>
                </a:solidFill>
                <a:latin typeface="Inter Bold"/>
                <a:ea typeface="Inter Bold"/>
                <a:cs typeface="Inter Bold"/>
                <a:sym typeface="Inter Bold"/>
              </a:rPr>
              <a:t>Tone &amp; M</a:t>
            </a:r>
            <a:r>
              <a:rPr lang="en-US" sz="3841" b="true">
                <a:solidFill>
                  <a:srgbClr val="B9C85A"/>
                </a:solidFill>
                <a:latin typeface="Inter Bold"/>
                <a:ea typeface="Inter Bold"/>
                <a:cs typeface="Inter Bold"/>
                <a:sym typeface="Inter Bold"/>
              </a:rPr>
              <a:t>oo</a:t>
            </a:r>
            <a:r>
              <a:rPr lang="en-US" b="true" sz="3841">
                <a:solidFill>
                  <a:srgbClr val="FFFFFF"/>
                </a:solidFill>
                <a:latin typeface="Inter Bold"/>
                <a:ea typeface="Inter Bold"/>
                <a:cs typeface="Inter Bold"/>
                <a:sym typeface="Inter Bold"/>
              </a:rPr>
              <a:t>d</a:t>
            </a:r>
          </a:p>
        </p:txBody>
      </p:sp>
      <p:sp>
        <p:nvSpPr>
          <p:cNvPr name="TextBox 17" id="17"/>
          <p:cNvSpPr txBox="true"/>
          <p:nvPr/>
        </p:nvSpPr>
        <p:spPr>
          <a:xfrm rot="0">
            <a:off x="6293356" y="6566002"/>
            <a:ext cx="5254439" cy="339725"/>
          </a:xfrm>
          <a:prstGeom prst="rect">
            <a:avLst/>
          </a:prstGeom>
        </p:spPr>
        <p:txBody>
          <a:bodyPr anchor="t" rtlCol="false" tIns="0" lIns="0" bIns="0" rIns="0">
            <a:spAutoFit/>
          </a:bodyPr>
          <a:lstStyle/>
          <a:p>
            <a:pPr algn="r">
              <a:lnSpc>
                <a:spcPts val="2799"/>
              </a:lnSpc>
            </a:pPr>
            <a:r>
              <a:rPr lang="en-US" sz="1999">
                <a:solidFill>
                  <a:srgbClr val="FFFFFF"/>
                </a:solidFill>
                <a:latin typeface="Inter"/>
                <a:ea typeface="Inter"/>
                <a:cs typeface="Inter"/>
                <a:sym typeface="Inter"/>
              </a:rPr>
              <a:t>Calm </a:t>
            </a:r>
            <a:r>
              <a:rPr lang="en-US" sz="1999">
                <a:solidFill>
                  <a:srgbClr val="B9C85A"/>
                </a:solidFill>
                <a:latin typeface="Inter"/>
                <a:ea typeface="Inter"/>
                <a:cs typeface="Inter"/>
                <a:sym typeface="Inter"/>
              </a:rPr>
              <a:t>•</a:t>
            </a:r>
            <a:r>
              <a:rPr lang="en-US" sz="1999">
                <a:solidFill>
                  <a:srgbClr val="FFFFFF"/>
                </a:solidFill>
                <a:latin typeface="Inter"/>
                <a:ea typeface="Inter"/>
                <a:cs typeface="Inter"/>
                <a:sym typeface="Inter"/>
              </a:rPr>
              <a:t> Technical </a:t>
            </a:r>
            <a:r>
              <a:rPr lang="en-US" sz="1999">
                <a:solidFill>
                  <a:srgbClr val="B9C85A"/>
                </a:solidFill>
                <a:latin typeface="Inter"/>
                <a:ea typeface="Inter"/>
                <a:cs typeface="Inter"/>
                <a:sym typeface="Inter"/>
              </a:rPr>
              <a:t>•</a:t>
            </a:r>
            <a:r>
              <a:rPr lang="en-US" sz="1999">
                <a:solidFill>
                  <a:srgbClr val="FFFFFF"/>
                </a:solidFill>
                <a:latin typeface="Inter"/>
                <a:ea typeface="Inter"/>
                <a:cs typeface="Inter"/>
                <a:sym typeface="Inter"/>
              </a:rPr>
              <a:t> Assuring</a:t>
            </a:r>
          </a:p>
        </p:txBody>
      </p:sp>
      <p:grpSp>
        <p:nvGrpSpPr>
          <p:cNvPr name="Group 18" id="18"/>
          <p:cNvGrpSpPr/>
          <p:nvPr/>
        </p:nvGrpSpPr>
        <p:grpSpPr>
          <a:xfrm rot="0">
            <a:off x="17809278" y="2983390"/>
            <a:ext cx="1052695" cy="4408468"/>
            <a:chOff x="0" y="0"/>
            <a:chExt cx="254251" cy="1064752"/>
          </a:xfrm>
        </p:grpSpPr>
        <p:sp>
          <p:nvSpPr>
            <p:cNvPr name="Freeform 19" id="19"/>
            <p:cNvSpPr/>
            <p:nvPr/>
          </p:nvSpPr>
          <p:spPr>
            <a:xfrm flipH="false" flipV="false" rot="0">
              <a:off x="0" y="0"/>
              <a:ext cx="254251" cy="1064752"/>
            </a:xfrm>
            <a:custGeom>
              <a:avLst/>
              <a:gdLst/>
              <a:ahLst/>
              <a:cxnLst/>
              <a:rect r="r" b="b" t="t" l="l"/>
              <a:pathLst>
                <a:path h="1064752" w="254251">
                  <a:moveTo>
                    <a:pt x="127126" y="0"/>
                  </a:moveTo>
                  <a:lnTo>
                    <a:pt x="127126" y="0"/>
                  </a:lnTo>
                  <a:cubicBezTo>
                    <a:pt x="160842" y="0"/>
                    <a:pt x="193176" y="13394"/>
                    <a:pt x="217017" y="37234"/>
                  </a:cubicBezTo>
                  <a:cubicBezTo>
                    <a:pt x="240858" y="61075"/>
                    <a:pt x="254251" y="93410"/>
                    <a:pt x="254251" y="127126"/>
                  </a:cubicBezTo>
                  <a:lnTo>
                    <a:pt x="254251" y="937626"/>
                  </a:lnTo>
                  <a:cubicBezTo>
                    <a:pt x="254251" y="1007836"/>
                    <a:pt x="197335" y="1064752"/>
                    <a:pt x="127126" y="1064752"/>
                  </a:cubicBezTo>
                  <a:lnTo>
                    <a:pt x="127126" y="1064752"/>
                  </a:lnTo>
                  <a:cubicBezTo>
                    <a:pt x="56916" y="1064752"/>
                    <a:pt x="0" y="1007836"/>
                    <a:pt x="0" y="937626"/>
                  </a:cubicBezTo>
                  <a:lnTo>
                    <a:pt x="0" y="127126"/>
                  </a:lnTo>
                  <a:cubicBezTo>
                    <a:pt x="0" y="56916"/>
                    <a:pt x="56916" y="0"/>
                    <a:pt x="127126" y="0"/>
                  </a:cubicBezTo>
                  <a:close/>
                </a:path>
              </a:pathLst>
            </a:custGeom>
            <a:solidFill>
              <a:srgbClr val="140C3D"/>
            </a:solidFill>
          </p:spPr>
        </p:sp>
        <p:sp>
          <p:nvSpPr>
            <p:cNvPr name="TextBox 20" id="20"/>
            <p:cNvSpPr txBox="true"/>
            <p:nvPr/>
          </p:nvSpPr>
          <p:spPr>
            <a:xfrm>
              <a:off x="0" y="-47625"/>
              <a:ext cx="254251" cy="1112377"/>
            </a:xfrm>
            <a:prstGeom prst="rect">
              <a:avLst/>
            </a:prstGeom>
          </p:spPr>
          <p:txBody>
            <a:bodyPr anchor="ctr" rtlCol="false" tIns="50800" lIns="50800" bIns="50800" rIns="50800"/>
            <a:lstStyle/>
            <a:p>
              <a:pPr algn="ctr">
                <a:lnSpc>
                  <a:spcPts val="3634"/>
                </a:lnSpc>
              </a:pPr>
            </a:p>
          </p:txBody>
        </p:sp>
      </p:grpSp>
      <p:sp>
        <p:nvSpPr>
          <p:cNvPr name="TextBox 21" id="21"/>
          <p:cNvSpPr txBox="true"/>
          <p:nvPr/>
        </p:nvSpPr>
        <p:spPr>
          <a:xfrm rot="-5400000">
            <a:off x="17048794" y="4921422"/>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22" id="22"/>
          <p:cNvSpPr/>
          <p:nvPr/>
        </p:nvSpPr>
        <p:spPr>
          <a:xfrm flipH="false" flipV="false" rot="1646178">
            <a:off x="11449518" y="3056578"/>
            <a:ext cx="437806" cy="492094"/>
          </a:xfrm>
          <a:custGeom>
            <a:avLst/>
            <a:gdLst/>
            <a:ahLst/>
            <a:cxnLst/>
            <a:rect r="r" b="b" t="t" l="l"/>
            <a:pathLst>
              <a:path h="492094" w="437806">
                <a:moveTo>
                  <a:pt x="0" y="0"/>
                </a:moveTo>
                <a:lnTo>
                  <a:pt x="437805" y="0"/>
                </a:lnTo>
                <a:lnTo>
                  <a:pt x="437805" y="492093"/>
                </a:lnTo>
                <a:lnTo>
                  <a:pt x="0" y="4920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1352059" y="-795329"/>
            <a:ext cx="20620964" cy="5938829"/>
            <a:chOff x="0" y="0"/>
            <a:chExt cx="4980464" cy="1434371"/>
          </a:xfrm>
        </p:grpSpPr>
        <p:sp>
          <p:nvSpPr>
            <p:cNvPr name="Freeform 3" id="3"/>
            <p:cNvSpPr/>
            <p:nvPr/>
          </p:nvSpPr>
          <p:spPr>
            <a:xfrm flipH="false" flipV="false" rot="0">
              <a:off x="0" y="0"/>
              <a:ext cx="4980464" cy="1434371"/>
            </a:xfrm>
            <a:custGeom>
              <a:avLst/>
              <a:gdLst/>
              <a:ahLst/>
              <a:cxnLst/>
              <a:rect r="r" b="b" t="t" l="l"/>
              <a:pathLst>
                <a:path h="1434371" w="4980464">
                  <a:moveTo>
                    <a:pt x="37544" y="0"/>
                  </a:moveTo>
                  <a:lnTo>
                    <a:pt x="4942920" y="0"/>
                  </a:lnTo>
                  <a:cubicBezTo>
                    <a:pt x="4963655" y="0"/>
                    <a:pt x="4980464" y="16809"/>
                    <a:pt x="4980464" y="37544"/>
                  </a:cubicBezTo>
                  <a:lnTo>
                    <a:pt x="4980464" y="1396828"/>
                  </a:lnTo>
                  <a:cubicBezTo>
                    <a:pt x="4980464" y="1417563"/>
                    <a:pt x="4963655" y="1434371"/>
                    <a:pt x="4942920" y="1434371"/>
                  </a:cubicBezTo>
                  <a:lnTo>
                    <a:pt x="37544" y="1434371"/>
                  </a:lnTo>
                  <a:cubicBezTo>
                    <a:pt x="27587" y="1434371"/>
                    <a:pt x="18037" y="1430416"/>
                    <a:pt x="10996" y="1423375"/>
                  </a:cubicBezTo>
                  <a:cubicBezTo>
                    <a:pt x="3956" y="1416334"/>
                    <a:pt x="0" y="1406785"/>
                    <a:pt x="0" y="1396828"/>
                  </a:cubicBezTo>
                  <a:lnTo>
                    <a:pt x="0" y="37544"/>
                  </a:lnTo>
                  <a:cubicBezTo>
                    <a:pt x="0" y="16809"/>
                    <a:pt x="16809" y="0"/>
                    <a:pt x="37544" y="0"/>
                  </a:cubicBezTo>
                  <a:close/>
                </a:path>
              </a:pathLst>
            </a:custGeom>
            <a:solidFill>
              <a:srgbClr val="140C3D"/>
            </a:solidFill>
          </p:spPr>
        </p:sp>
        <p:sp>
          <p:nvSpPr>
            <p:cNvPr name="TextBox 4" id="4"/>
            <p:cNvSpPr txBox="true"/>
            <p:nvPr/>
          </p:nvSpPr>
          <p:spPr>
            <a:xfrm>
              <a:off x="0" y="-47625"/>
              <a:ext cx="4980464" cy="1481996"/>
            </a:xfrm>
            <a:prstGeom prst="rect">
              <a:avLst/>
            </a:prstGeom>
          </p:spPr>
          <p:txBody>
            <a:bodyPr anchor="ctr" rtlCol="false" tIns="50800" lIns="50800" bIns="50800" rIns="50800"/>
            <a:lstStyle/>
            <a:p>
              <a:pPr algn="ctr">
                <a:lnSpc>
                  <a:spcPts val="3634"/>
                </a:lnSpc>
              </a:pPr>
            </a:p>
          </p:txBody>
        </p:sp>
      </p:grpSp>
      <p:grpSp>
        <p:nvGrpSpPr>
          <p:cNvPr name="Group 5" id="5"/>
          <p:cNvGrpSpPr/>
          <p:nvPr/>
        </p:nvGrpSpPr>
        <p:grpSpPr>
          <a:xfrm rot="0">
            <a:off x="4897567" y="1566340"/>
            <a:ext cx="8492866" cy="2010820"/>
            <a:chOff x="0" y="0"/>
            <a:chExt cx="11323821" cy="2681094"/>
          </a:xfrm>
        </p:grpSpPr>
        <p:sp>
          <p:nvSpPr>
            <p:cNvPr name="Freeform 6" id="6"/>
            <p:cNvSpPr/>
            <p:nvPr/>
          </p:nvSpPr>
          <p:spPr>
            <a:xfrm flipH="false" flipV="false" rot="0">
              <a:off x="0" y="0"/>
              <a:ext cx="2423038" cy="2681094"/>
            </a:xfrm>
            <a:custGeom>
              <a:avLst/>
              <a:gdLst/>
              <a:ahLst/>
              <a:cxnLst/>
              <a:rect r="r" b="b" t="t" l="l"/>
              <a:pathLst>
                <a:path h="2681094" w="2423038">
                  <a:moveTo>
                    <a:pt x="0" y="0"/>
                  </a:moveTo>
                  <a:lnTo>
                    <a:pt x="2423038" y="0"/>
                  </a:lnTo>
                  <a:lnTo>
                    <a:pt x="2423038" y="2681094"/>
                  </a:lnTo>
                  <a:lnTo>
                    <a:pt x="0" y="2681094"/>
                  </a:lnTo>
                  <a:lnTo>
                    <a:pt x="0" y="0"/>
                  </a:lnTo>
                  <a:close/>
                </a:path>
              </a:pathLst>
            </a:custGeom>
            <a:blipFill>
              <a:blip r:embed="rId2"/>
              <a:stretch>
                <a:fillRect l="0" t="0" r="0" b="0"/>
              </a:stretch>
            </a:blipFill>
          </p:spPr>
        </p:sp>
        <p:sp>
          <p:nvSpPr>
            <p:cNvPr name="Freeform 7" id="7"/>
            <p:cNvSpPr/>
            <p:nvPr/>
          </p:nvSpPr>
          <p:spPr>
            <a:xfrm flipH="false" flipV="false" rot="0">
              <a:off x="3199435" y="0"/>
              <a:ext cx="8124386" cy="2681094"/>
            </a:xfrm>
            <a:custGeom>
              <a:avLst/>
              <a:gdLst/>
              <a:ahLst/>
              <a:cxnLst/>
              <a:rect r="r" b="b" t="t" l="l"/>
              <a:pathLst>
                <a:path h="2681094" w="8124386">
                  <a:moveTo>
                    <a:pt x="0" y="0"/>
                  </a:moveTo>
                  <a:lnTo>
                    <a:pt x="8124386" y="0"/>
                  </a:lnTo>
                  <a:lnTo>
                    <a:pt x="8124386" y="2681094"/>
                  </a:lnTo>
                  <a:lnTo>
                    <a:pt x="0" y="2681094"/>
                  </a:lnTo>
                  <a:lnTo>
                    <a:pt x="0" y="0"/>
                  </a:lnTo>
                  <a:close/>
                </a:path>
              </a:pathLst>
            </a:custGeom>
            <a:blipFill>
              <a:blip r:embed="rId3"/>
              <a:stretch>
                <a:fillRect l="-15524" t="-47984" r="-13818" b="-47984"/>
              </a:stretch>
            </a:blipFill>
          </p:spPr>
        </p:sp>
      </p:grpSp>
      <p:grpSp>
        <p:nvGrpSpPr>
          <p:cNvPr name="Group 8" id="8"/>
          <p:cNvGrpSpPr/>
          <p:nvPr/>
        </p:nvGrpSpPr>
        <p:grpSpPr>
          <a:xfrm rot="0">
            <a:off x="-1166482" y="8568828"/>
            <a:ext cx="20620964" cy="2015208"/>
            <a:chOff x="0" y="0"/>
            <a:chExt cx="4980464" cy="486722"/>
          </a:xfrm>
        </p:grpSpPr>
        <p:sp>
          <p:nvSpPr>
            <p:cNvPr name="Freeform 9" id="9"/>
            <p:cNvSpPr/>
            <p:nvPr/>
          </p:nvSpPr>
          <p:spPr>
            <a:xfrm flipH="false" flipV="false" rot="0">
              <a:off x="0" y="0"/>
              <a:ext cx="4980464" cy="486722"/>
            </a:xfrm>
            <a:custGeom>
              <a:avLst/>
              <a:gdLst/>
              <a:ahLst/>
              <a:cxnLst/>
              <a:rect r="r" b="b" t="t" l="l"/>
              <a:pathLst>
                <a:path h="486722" w="4980464">
                  <a:moveTo>
                    <a:pt x="37544" y="0"/>
                  </a:moveTo>
                  <a:lnTo>
                    <a:pt x="4942920" y="0"/>
                  </a:lnTo>
                  <a:cubicBezTo>
                    <a:pt x="4963655" y="0"/>
                    <a:pt x="4980464" y="16809"/>
                    <a:pt x="4980464" y="37544"/>
                  </a:cubicBezTo>
                  <a:lnTo>
                    <a:pt x="4980464" y="449178"/>
                  </a:lnTo>
                  <a:cubicBezTo>
                    <a:pt x="4980464" y="469913"/>
                    <a:pt x="4963655" y="486722"/>
                    <a:pt x="4942920" y="486722"/>
                  </a:cubicBezTo>
                  <a:lnTo>
                    <a:pt x="37544" y="486722"/>
                  </a:lnTo>
                  <a:cubicBezTo>
                    <a:pt x="16809" y="486722"/>
                    <a:pt x="0" y="469913"/>
                    <a:pt x="0" y="449178"/>
                  </a:cubicBezTo>
                  <a:lnTo>
                    <a:pt x="0" y="37544"/>
                  </a:lnTo>
                  <a:cubicBezTo>
                    <a:pt x="0" y="16809"/>
                    <a:pt x="16809" y="0"/>
                    <a:pt x="37544" y="0"/>
                  </a:cubicBezTo>
                  <a:close/>
                </a:path>
              </a:pathLst>
            </a:custGeom>
            <a:solidFill>
              <a:srgbClr val="140C3D"/>
            </a:solidFill>
          </p:spPr>
        </p:sp>
        <p:sp>
          <p:nvSpPr>
            <p:cNvPr name="TextBox 10" id="10"/>
            <p:cNvSpPr txBox="true"/>
            <p:nvPr/>
          </p:nvSpPr>
          <p:spPr>
            <a:xfrm>
              <a:off x="0" y="-47625"/>
              <a:ext cx="4980464" cy="534347"/>
            </a:xfrm>
            <a:prstGeom prst="rect">
              <a:avLst/>
            </a:prstGeom>
          </p:spPr>
          <p:txBody>
            <a:bodyPr anchor="ctr" rtlCol="false" tIns="50800" lIns="50800" bIns="50800" rIns="50800"/>
            <a:lstStyle/>
            <a:p>
              <a:pPr algn="ctr">
                <a:lnSpc>
                  <a:spcPts val="3634"/>
                </a:lnSpc>
              </a:pPr>
            </a:p>
          </p:txBody>
        </p:sp>
      </p:grpSp>
      <p:sp>
        <p:nvSpPr>
          <p:cNvPr name="TextBox 11" id="11"/>
          <p:cNvSpPr txBox="true"/>
          <p:nvPr/>
        </p:nvSpPr>
        <p:spPr>
          <a:xfrm rot="0">
            <a:off x="3393402" y="6675189"/>
            <a:ext cx="11501196" cy="409575"/>
          </a:xfrm>
          <a:prstGeom prst="rect">
            <a:avLst/>
          </a:prstGeom>
        </p:spPr>
        <p:txBody>
          <a:bodyPr anchor="t" rtlCol="false" tIns="0" lIns="0" bIns="0" rIns="0">
            <a:spAutoFit/>
          </a:bodyPr>
          <a:lstStyle/>
          <a:p>
            <a:pPr algn="ctr">
              <a:lnSpc>
                <a:spcPts val="3000"/>
              </a:lnSpc>
            </a:pPr>
            <a:r>
              <a:rPr lang="en-US" b="true" sz="3000" spc="420">
                <a:solidFill>
                  <a:srgbClr val="FFFFFF"/>
                </a:solidFill>
                <a:latin typeface="Open Sauce Semi-Bold"/>
                <a:ea typeface="Open Sauce Semi-Bold"/>
                <a:cs typeface="Open Sauce Semi-Bold"/>
                <a:sym typeface="Open Sauce Semi-Bold"/>
              </a:rPr>
              <a:t>“RELIABILITY COPILOT FOR THE M</a:t>
            </a:r>
            <a:r>
              <a:rPr lang="en-US" b="true" sz="3000" spc="420">
                <a:solidFill>
                  <a:srgbClr val="B9C85A"/>
                </a:solidFill>
                <a:latin typeface="Open Sauce Semi-Bold"/>
                <a:ea typeface="Open Sauce Semi-Bold"/>
                <a:cs typeface="Open Sauce Semi-Bold"/>
                <a:sym typeface="Open Sauce Semi-Bold"/>
              </a:rPr>
              <a:t>O</a:t>
            </a:r>
            <a:r>
              <a:rPr lang="en-US" b="true" sz="3000" spc="420">
                <a:solidFill>
                  <a:srgbClr val="FFFFFF"/>
                </a:solidFill>
                <a:latin typeface="Open Sauce Semi-Bold"/>
                <a:ea typeface="Open Sauce Semi-Bold"/>
                <a:cs typeface="Open Sauce Semi-Bold"/>
                <a:sym typeface="Open Sauce Semi-Bold"/>
              </a:rPr>
              <a:t>DERN WEB”</a:t>
            </a:r>
          </a:p>
        </p:txBody>
      </p:sp>
      <p:sp>
        <p:nvSpPr>
          <p:cNvPr name="TextBox 12" id="12"/>
          <p:cNvSpPr txBox="true"/>
          <p:nvPr/>
        </p:nvSpPr>
        <p:spPr>
          <a:xfrm rot="0">
            <a:off x="15312884" y="9220200"/>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TextBox 13" id="13"/>
          <p:cNvSpPr txBox="true"/>
          <p:nvPr/>
        </p:nvSpPr>
        <p:spPr>
          <a:xfrm rot="0">
            <a:off x="1028700" y="9220200"/>
            <a:ext cx="4173336" cy="339725"/>
          </a:xfrm>
          <a:prstGeom prst="rect">
            <a:avLst/>
          </a:prstGeom>
        </p:spPr>
        <p:txBody>
          <a:bodyPr anchor="t" rtlCol="false" tIns="0" lIns="0" bIns="0" rIns="0">
            <a:spAutoFit/>
          </a:bodyPr>
          <a:lstStyle/>
          <a:p>
            <a:pPr algn="l">
              <a:lnSpc>
                <a:spcPts val="2799"/>
              </a:lnSpc>
            </a:pPr>
            <a:r>
              <a:rPr lang="en-US" sz="1999">
                <a:solidFill>
                  <a:srgbClr val="FFFFFF"/>
                </a:solidFill>
                <a:latin typeface="Inter"/>
                <a:ea typeface="Inter"/>
                <a:cs typeface="Inter"/>
                <a:sym typeface="Inter"/>
              </a:rPr>
              <a:t>© 2026 CavBot</a:t>
            </a:r>
          </a:p>
        </p:txBody>
      </p:sp>
      <p:sp>
        <p:nvSpPr>
          <p:cNvPr name="Freeform 14" id="14"/>
          <p:cNvSpPr/>
          <p:nvPr/>
        </p:nvSpPr>
        <p:spPr>
          <a:xfrm flipH="false" flipV="false" rot="1646178">
            <a:off x="1117448" y="1001059"/>
            <a:ext cx="437806" cy="492094"/>
          </a:xfrm>
          <a:custGeom>
            <a:avLst/>
            <a:gdLst/>
            <a:ahLst/>
            <a:cxnLst/>
            <a:rect r="r" b="b" t="t" l="l"/>
            <a:pathLst>
              <a:path h="492094" w="437806">
                <a:moveTo>
                  <a:pt x="0" y="0"/>
                </a:moveTo>
                <a:lnTo>
                  <a:pt x="437805" y="0"/>
                </a:lnTo>
                <a:lnTo>
                  <a:pt x="437805" y="492093"/>
                </a:lnTo>
                <a:lnTo>
                  <a:pt x="0" y="492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030F"/>
        </a:solidFill>
      </p:bgPr>
    </p:bg>
    <p:spTree>
      <p:nvGrpSpPr>
        <p:cNvPr id="1" name=""/>
        <p:cNvGrpSpPr/>
        <p:nvPr/>
      </p:nvGrpSpPr>
      <p:grpSpPr>
        <a:xfrm>
          <a:off x="0" y="0"/>
          <a:ext cx="0" cy="0"/>
          <a:chOff x="0" y="0"/>
          <a:chExt cx="0" cy="0"/>
        </a:xfrm>
      </p:grpSpPr>
      <p:grpSp>
        <p:nvGrpSpPr>
          <p:cNvPr name="Group 2" id="2"/>
          <p:cNvGrpSpPr/>
          <p:nvPr/>
        </p:nvGrpSpPr>
        <p:grpSpPr>
          <a:xfrm rot="0">
            <a:off x="-4768342" y="514350"/>
            <a:ext cx="14666437" cy="9258300"/>
            <a:chOff x="0" y="0"/>
            <a:chExt cx="3542301" cy="2236104"/>
          </a:xfrm>
        </p:grpSpPr>
        <p:sp>
          <p:nvSpPr>
            <p:cNvPr name="Freeform 3" id="3"/>
            <p:cNvSpPr/>
            <p:nvPr/>
          </p:nvSpPr>
          <p:spPr>
            <a:xfrm flipH="false" flipV="false" rot="0">
              <a:off x="0" y="0"/>
              <a:ext cx="3542301" cy="2236104"/>
            </a:xfrm>
            <a:custGeom>
              <a:avLst/>
              <a:gdLst/>
              <a:ahLst/>
              <a:cxnLst/>
              <a:rect r="r" b="b" t="t" l="l"/>
              <a:pathLst>
                <a:path h="2236104" w="3542301">
                  <a:moveTo>
                    <a:pt x="52787" y="0"/>
                  </a:moveTo>
                  <a:lnTo>
                    <a:pt x="3489514" y="0"/>
                  </a:lnTo>
                  <a:cubicBezTo>
                    <a:pt x="3518667" y="0"/>
                    <a:pt x="3542301" y="23633"/>
                    <a:pt x="3542301" y="52787"/>
                  </a:cubicBezTo>
                  <a:lnTo>
                    <a:pt x="3542301" y="2183318"/>
                  </a:lnTo>
                  <a:cubicBezTo>
                    <a:pt x="3542301" y="2212471"/>
                    <a:pt x="3518667" y="2236104"/>
                    <a:pt x="3489514" y="2236104"/>
                  </a:cubicBezTo>
                  <a:lnTo>
                    <a:pt x="52787" y="2236104"/>
                  </a:lnTo>
                  <a:cubicBezTo>
                    <a:pt x="23633" y="2236104"/>
                    <a:pt x="0" y="2212471"/>
                    <a:pt x="0" y="2183318"/>
                  </a:cubicBezTo>
                  <a:lnTo>
                    <a:pt x="0" y="52787"/>
                  </a:lnTo>
                  <a:cubicBezTo>
                    <a:pt x="0" y="23633"/>
                    <a:pt x="23633" y="0"/>
                    <a:pt x="52787" y="0"/>
                  </a:cubicBezTo>
                  <a:close/>
                </a:path>
              </a:pathLst>
            </a:custGeom>
            <a:solidFill>
              <a:srgbClr val="140C3D"/>
            </a:solidFill>
          </p:spPr>
        </p:sp>
        <p:sp>
          <p:nvSpPr>
            <p:cNvPr name="TextBox 4" id="4"/>
            <p:cNvSpPr txBox="true"/>
            <p:nvPr/>
          </p:nvSpPr>
          <p:spPr>
            <a:xfrm>
              <a:off x="0" y="-47625"/>
              <a:ext cx="3542301" cy="2283729"/>
            </a:xfrm>
            <a:prstGeom prst="rect">
              <a:avLst/>
            </a:prstGeom>
          </p:spPr>
          <p:txBody>
            <a:bodyPr anchor="ctr" rtlCol="false" tIns="50800" lIns="50800" bIns="50800" rIns="50800"/>
            <a:lstStyle/>
            <a:p>
              <a:pPr algn="ctr">
                <a:lnSpc>
                  <a:spcPts val="3634"/>
                </a:lnSpc>
              </a:pPr>
            </a:p>
          </p:txBody>
        </p:sp>
      </p:grpSp>
      <p:sp>
        <p:nvSpPr>
          <p:cNvPr name="Freeform 5" id="5"/>
          <p:cNvSpPr/>
          <p:nvPr/>
        </p:nvSpPr>
        <p:spPr>
          <a:xfrm flipH="false" flipV="false" rot="0">
            <a:off x="1008694" y="8998815"/>
            <a:ext cx="268305" cy="200936"/>
          </a:xfrm>
          <a:custGeom>
            <a:avLst/>
            <a:gdLst/>
            <a:ahLst/>
            <a:cxnLst/>
            <a:rect r="r" b="b" t="t" l="l"/>
            <a:pathLst>
              <a:path h="200936" w="268305">
                <a:moveTo>
                  <a:pt x="0" y="0"/>
                </a:moveTo>
                <a:lnTo>
                  <a:pt x="268304" y="0"/>
                </a:lnTo>
                <a:lnTo>
                  <a:pt x="268304" y="200936"/>
                </a:lnTo>
                <a:lnTo>
                  <a:pt x="0" y="2009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08694" y="1377127"/>
            <a:ext cx="8889400" cy="3370401"/>
          </a:xfrm>
          <a:prstGeom prst="rect">
            <a:avLst/>
          </a:prstGeom>
        </p:spPr>
        <p:txBody>
          <a:bodyPr anchor="t" rtlCol="false" tIns="0" lIns="0" bIns="0" rIns="0">
            <a:spAutoFit/>
          </a:bodyPr>
          <a:lstStyle/>
          <a:p>
            <a:pPr algn="l">
              <a:lnSpc>
                <a:spcPts val="12416"/>
              </a:lnSpc>
            </a:pPr>
            <a:r>
              <a:rPr lang="en-US" sz="16337">
                <a:solidFill>
                  <a:srgbClr val="FFFFFF"/>
                </a:solidFill>
                <a:latin typeface="Inter"/>
                <a:ea typeface="Inter"/>
                <a:cs typeface="Inter"/>
                <a:sym typeface="Inter"/>
              </a:rPr>
              <a:t>THANK YOU</a:t>
            </a:r>
          </a:p>
        </p:txBody>
      </p:sp>
      <p:sp>
        <p:nvSpPr>
          <p:cNvPr name="TextBox 7" id="7"/>
          <p:cNvSpPr txBox="true"/>
          <p:nvPr/>
        </p:nvSpPr>
        <p:spPr>
          <a:xfrm rot="0">
            <a:off x="1008694" y="6032914"/>
            <a:ext cx="7463116" cy="1536240"/>
          </a:xfrm>
          <a:prstGeom prst="rect">
            <a:avLst/>
          </a:prstGeom>
        </p:spPr>
        <p:txBody>
          <a:bodyPr anchor="t" rtlCol="false" tIns="0" lIns="0" bIns="0" rIns="0">
            <a:spAutoFit/>
          </a:bodyPr>
          <a:lstStyle/>
          <a:p>
            <a:pPr algn="l">
              <a:lnSpc>
                <a:spcPts val="6150"/>
              </a:lnSpc>
            </a:pPr>
            <a:r>
              <a:rPr lang="en-US" sz="4393">
                <a:solidFill>
                  <a:srgbClr val="FFFFFF"/>
                </a:solidFill>
                <a:latin typeface="Inter Light"/>
                <a:ea typeface="Inter Light"/>
                <a:cs typeface="Inter Light"/>
                <a:sym typeface="Inter Light"/>
              </a:rPr>
              <a:t>CavBot Press &amp; Media Inquiries</a:t>
            </a:r>
          </a:p>
        </p:txBody>
      </p:sp>
      <p:sp>
        <p:nvSpPr>
          <p:cNvPr name="TextBox 8" id="8"/>
          <p:cNvSpPr txBox="true"/>
          <p:nvPr/>
        </p:nvSpPr>
        <p:spPr>
          <a:xfrm rot="0">
            <a:off x="1524220" y="8902166"/>
            <a:ext cx="2954189" cy="356134"/>
          </a:xfrm>
          <a:prstGeom prst="rect">
            <a:avLst/>
          </a:prstGeom>
        </p:spPr>
        <p:txBody>
          <a:bodyPr anchor="t" rtlCol="false" tIns="0" lIns="0" bIns="0" rIns="0">
            <a:spAutoFit/>
          </a:bodyPr>
          <a:lstStyle/>
          <a:p>
            <a:pPr algn="l">
              <a:lnSpc>
                <a:spcPts val="2952"/>
              </a:lnSpc>
            </a:pPr>
            <a:r>
              <a:rPr lang="en-US" sz="2108">
                <a:solidFill>
                  <a:srgbClr val="FFFFFF"/>
                </a:solidFill>
                <a:latin typeface="Inter"/>
                <a:ea typeface="Inter"/>
                <a:cs typeface="Inter"/>
                <a:sym typeface="Inter"/>
              </a:rPr>
              <a:t>pr@c</a:t>
            </a:r>
            <a:r>
              <a:rPr lang="en-US" sz="2108">
                <a:solidFill>
                  <a:srgbClr val="FFFFFF"/>
                </a:solidFill>
                <a:latin typeface="Inter"/>
                <a:ea typeface="Inter"/>
                <a:cs typeface="Inter"/>
                <a:sym typeface="Inter"/>
              </a:rPr>
              <a:t>avbot.io</a:t>
            </a:r>
          </a:p>
        </p:txBody>
      </p:sp>
      <p:sp>
        <p:nvSpPr>
          <p:cNvPr name="Freeform 9" id="9"/>
          <p:cNvSpPr/>
          <p:nvPr/>
        </p:nvSpPr>
        <p:spPr>
          <a:xfrm flipH="false" flipV="false" rot="0">
            <a:off x="14437815" y="1205191"/>
            <a:ext cx="544169" cy="602124"/>
          </a:xfrm>
          <a:custGeom>
            <a:avLst/>
            <a:gdLst/>
            <a:ahLst/>
            <a:cxnLst/>
            <a:rect r="r" b="b" t="t" l="l"/>
            <a:pathLst>
              <a:path h="602124" w="544169">
                <a:moveTo>
                  <a:pt x="0" y="0"/>
                </a:moveTo>
                <a:lnTo>
                  <a:pt x="544169" y="0"/>
                </a:lnTo>
                <a:lnTo>
                  <a:pt x="544169" y="602124"/>
                </a:lnTo>
                <a:lnTo>
                  <a:pt x="0" y="602124"/>
                </a:lnTo>
                <a:lnTo>
                  <a:pt x="0" y="0"/>
                </a:lnTo>
                <a:close/>
              </a:path>
            </a:pathLst>
          </a:custGeom>
          <a:blipFill>
            <a:blip r:embed="rId4"/>
            <a:stretch>
              <a:fillRect l="0" t="0" r="0" b="0"/>
            </a:stretch>
          </a:blipFill>
        </p:spPr>
      </p:sp>
      <p:sp>
        <p:nvSpPr>
          <p:cNvPr name="Freeform 10" id="10"/>
          <p:cNvSpPr/>
          <p:nvPr/>
        </p:nvSpPr>
        <p:spPr>
          <a:xfrm flipH="false" flipV="false" rot="0">
            <a:off x="15182591" y="916263"/>
            <a:ext cx="2076709" cy="1179980"/>
          </a:xfrm>
          <a:custGeom>
            <a:avLst/>
            <a:gdLst/>
            <a:ahLst/>
            <a:cxnLst/>
            <a:rect r="r" b="b" t="t" l="l"/>
            <a:pathLst>
              <a:path h="1179980" w="2076709">
                <a:moveTo>
                  <a:pt x="0" y="0"/>
                </a:moveTo>
                <a:lnTo>
                  <a:pt x="2076709" y="0"/>
                </a:lnTo>
                <a:lnTo>
                  <a:pt x="2076709" y="1179980"/>
                </a:lnTo>
                <a:lnTo>
                  <a:pt x="0" y="1179980"/>
                </a:lnTo>
                <a:lnTo>
                  <a:pt x="0" y="0"/>
                </a:lnTo>
                <a:close/>
              </a:path>
            </a:pathLst>
          </a:custGeom>
          <a:blipFill>
            <a:blip r:embed="rId5"/>
            <a:stretch>
              <a:fillRect l="-13639" t="0" r="0" b="0"/>
            </a:stretch>
          </a:blipFill>
        </p:spPr>
      </p:sp>
      <p:sp>
        <p:nvSpPr>
          <p:cNvPr name="TextBox 11" id="11"/>
          <p:cNvSpPr txBox="true"/>
          <p:nvPr/>
        </p:nvSpPr>
        <p:spPr>
          <a:xfrm rot="0">
            <a:off x="15312884" y="9557573"/>
            <a:ext cx="1946416" cy="339725"/>
          </a:xfrm>
          <a:prstGeom prst="rect">
            <a:avLst/>
          </a:prstGeom>
        </p:spPr>
        <p:txBody>
          <a:bodyPr anchor="t" rtlCol="false" tIns="0" lIns="0" bIns="0" rIns="0">
            <a:spAutoFit/>
          </a:bodyPr>
          <a:lstStyle/>
          <a:p>
            <a:pPr algn="l">
              <a:lnSpc>
                <a:spcPts val="2799"/>
              </a:lnSpc>
            </a:pPr>
            <a:r>
              <a:rPr lang="en-US" sz="1999" b="true">
                <a:solidFill>
                  <a:srgbClr val="FFFFFF"/>
                </a:solidFill>
                <a:latin typeface="Inter Medium"/>
                <a:ea typeface="Inter Medium"/>
                <a:cs typeface="Inter Medium"/>
                <a:sym typeface="Inter Medium"/>
              </a:rPr>
              <a:t>www.cavb</a:t>
            </a:r>
            <a:r>
              <a:rPr lang="en-US" sz="1999" b="true">
                <a:solidFill>
                  <a:srgbClr val="B9C85A"/>
                </a:solidFill>
                <a:latin typeface="Inter Medium"/>
                <a:ea typeface="Inter Medium"/>
                <a:cs typeface="Inter Medium"/>
                <a:sym typeface="Inter Medium"/>
              </a:rPr>
              <a:t>o</a:t>
            </a:r>
            <a:r>
              <a:rPr lang="en-US" sz="1999" b="true">
                <a:solidFill>
                  <a:srgbClr val="FFFFFF"/>
                </a:solidFill>
                <a:latin typeface="Inter Medium"/>
                <a:ea typeface="Inter Medium"/>
                <a:cs typeface="Inter Medium"/>
                <a:sym typeface="Inter Medium"/>
              </a:rPr>
              <a:t>t.io</a:t>
            </a:r>
          </a:p>
        </p:txBody>
      </p:sp>
      <p:sp>
        <p:nvSpPr>
          <p:cNvPr name="Freeform 12" id="12"/>
          <p:cNvSpPr/>
          <p:nvPr/>
        </p:nvSpPr>
        <p:spPr>
          <a:xfrm flipH="false" flipV="false" rot="0">
            <a:off x="7288409" y="8190982"/>
            <a:ext cx="437806" cy="492094"/>
          </a:xfrm>
          <a:custGeom>
            <a:avLst/>
            <a:gdLst/>
            <a:ahLst/>
            <a:cxnLst/>
            <a:rect r="r" b="b" t="t" l="l"/>
            <a:pathLst>
              <a:path h="492094" w="437806">
                <a:moveTo>
                  <a:pt x="0" y="0"/>
                </a:moveTo>
                <a:lnTo>
                  <a:pt x="437805" y="0"/>
                </a:lnTo>
                <a:lnTo>
                  <a:pt x="437805" y="492094"/>
                </a:lnTo>
                <a:lnTo>
                  <a:pt x="0" y="492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DAG8oyjXfbw</dc:identifier>
  <dcterms:modified xsi:type="dcterms:W3CDTF">2011-08-01T06:04:30Z</dcterms:modified>
  <cp:revision>1</cp:revision>
  <dc:title>cavbot-brand-guidelines</dc:title>
</cp:coreProperties>
</file>